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ContentType="application/vnd.openxmlformats-officedocument.presentationml.slide+xml" PartName="/ppt/slides/slide17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210"/>
    <p:sldId id="267" r:id="rId17"/>
    <p:sldId id="268" r:id="rId18"/>
    <p:sldId id="269" r:id="rId19"/>
    <p:sldId id="270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210" Type="http://schemas.openxmlformats.org/officeDocument/2006/relationships/slide" Target="slides/slide1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101" Type="http://schemas.openxmlformats.org/officeDocument/2006/relationships/image" Target="../media/image10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01" Type="http://schemas.openxmlformats.org/officeDocument/2006/relationships/image" Target="../media/image101.png"/><Relationship Id="rId102" Type="http://schemas.openxmlformats.org/officeDocument/2006/relationships/image" Target="../media/image102.png"/><Relationship Id="rId103" Type="http://schemas.openxmlformats.org/officeDocument/2006/relationships/image" Target="../media/image10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01" Type="http://schemas.openxmlformats.org/officeDocument/2006/relationships/hyperlink" Target="https://github.com/nuckydotid/ai-native-office" TargetMode="External"/><Relationship Id="rId102" Type="http://schemas.openxmlformats.org/officeDocument/2006/relationships/hyperlink" Target="https://drive.google.com/file/d/1aegkuWEeJbPpCgbToksb0DkwxneWELrU/view?usp=sharing" TargetMode="External"/><Relationship Id="rId103" Type="http://schemas.openxmlformats.org/officeDocument/2006/relationships/hyperlink" Target="https://studio-web-x6ud7nrylq-as.a.run.app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01" Type="http://schemas.openxmlformats.org/officeDocument/2006/relationships/image" Target="../media/image104.png"/><Relationship Id="rId102" Type="http://schemas.openxmlformats.org/officeDocument/2006/relationships/image" Target="../media/image105.png"/><Relationship Id="rId103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Team details 301"/>
          <p:cNvSpPr txBox="1"/>
          <p:nvPr/>
        </p:nvSpPr>
        <p:spPr>
          <a:xfrm>
            <a:off x="146304" y="2743200"/>
            <a:ext cx="8759952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4572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0" i="0" dirty="0">
                <a:solidFill>
                  <a:srgbClr val="1F1F1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lang="en-GB" sz="2100" dirty="0">
              <a:latin typeface="Google Sans Flex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dirty="0">
              <a:latin typeface="Google Sans Flex"/>
            </a:endParaRPr>
          </a:p>
          <a:p>
            <a:pPr marL="9144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name: Worktrees Studio</a:t>
            </a:r>
            <a:endParaRPr lang="en-GB" sz="1800" dirty="0">
              <a:latin typeface="Google Sans Flex"/>
            </a:endParaRPr>
          </a:p>
          <a:p>
            <a:pPr marL="9144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leader name: Nucky Ridwan Gunawan</a:t>
            </a:r>
            <a:endParaRPr lang="en-GB" sz="1800" dirty="0">
              <a:latin typeface="Google Sans Flex"/>
            </a:endParaRPr>
          </a:p>
          <a:p>
            <a:pPr marL="9144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Problem Statement: Future of Work &amp; Enterprise Productivity</a:t>
            </a:r>
            <a:endParaRPr lang="en-GB" sz="18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dirty="0">
              <a:latin typeface="Google Sans Flex"/>
            </a:endParaRPr>
          </a:p>
          <a:p>
            <a:pPr marL="5715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composition</a:t>
            </a:r>
            <a:endParaRPr lang="en-GB" sz="1200" dirty="0">
              <a:latin typeface="Google Sans Flex"/>
            </a:endParaRPr>
          </a:p>
          <a:p>
            <a:pPr marL="57150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2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1.  Nucky Ridwan Gunawan (Leader), Principal Software Engineer</a:t>
            </a:r>
            <a:endParaRPr lang="en-GB" sz="1200" dirty="0">
              <a:latin typeface="Google Sans Flex"/>
            </a:endParaRPr>
          </a:p>
          <a:p>
            <a:pPr marL="57150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2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2.  Hamza Arif, AI Engineer</a:t>
            </a:r>
            <a:endParaRPr lang="en-GB" sz="1200" dirty="0">
              <a:latin typeface="Google Sans Flex"/>
            </a:endParaRPr>
          </a:p>
          <a:p>
            <a:pPr marL="57150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2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3.  Nithin Chandrakantha Reddy, UX Researcher</a:t>
            </a:r>
            <a:endParaRPr lang="en-GB" sz="1200" dirty="0">
              <a:latin typeface="Google Sans Flex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lang="en-GB" sz="1600" dirty="0">
              <a:latin typeface="Google Sans Flex Medium"/>
            </a:endParaRPr>
          </a:p>
        </p:txBody>
      </p:sp>
      <p:sp>
        <p:nvSpPr>
          <p:cNvPr id="302" name="Text 302"/>
          <p:cNvSpPr txBox="1"/>
          <p:nvPr/>
        </p:nvSpPr>
        <p:spPr>
          <a:xfrm>
            <a:off x="274320" y="1188720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Worktrees Studio: an AI-native delivery service for web teams</a:t>
            </a:r>
            <a:endParaRPr lang="en-GB" sz="1400" dirty="0">
              <a:latin typeface="Google Sans Flex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Ten AI colleagues work next to people in a virtual office and carry a web change from an idea to production: they plan, design, write code and tests, prepare the release and narrate the rollout. People approve every gate.</a:t>
            </a:r>
            <a:endParaRPr lang="en-GB" sz="1100" dirty="0">
              <a:latin typeface="Google Sans Flex"/>
            </a:endParaRPr>
          </a:p>
        </p:txBody>
      </p:sp>
      <p:sp>
        <p:nvSpPr>
          <p:cNvPr id="303" name="Card 303"/>
          <p:cNvSpPr/>
          <p:nvPr/>
        </p:nvSpPr>
        <p:spPr>
          <a:xfrm>
            <a:off x="274320" y="2395728"/>
            <a:ext cx="4846320" cy="658368"/>
          </a:xfrm>
          <a:prstGeom prst="roundRect">
            <a:avLst>
              <a:gd name="adj" fmla="val 13888"/>
            </a:avLst>
          </a:prstGeom>
          <a:solidFill>
            <a:srgbClr val="E8F0FE"/>
          </a:solidFill>
          <a:ln>
            <a:noFill/>
          </a:ln>
        </p:spPr>
        <p:txBody>
          <a:bodyPr wrap="square" lIns="109728" tIns="82296" rIns="109728" bIns="73152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Know.</a:t>
            </a:r>
            <a:r>
              <a:rPr lang="en-GB" sz="10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Ask in the office and get an answer with its sources, or an honest “that is not written down”.</a:t>
            </a:r>
            <a:endParaRPr lang="en-GB" sz="1050" dirty="0">
              <a:latin typeface="Google Sans Flex"/>
            </a:endParaRPr>
          </a:p>
        </p:txBody>
      </p:sp>
      <p:sp>
        <p:nvSpPr>
          <p:cNvPr id="304" name="Card 304"/>
          <p:cNvSpPr/>
          <p:nvPr/>
        </p:nvSpPr>
        <p:spPr>
          <a:xfrm>
            <a:off x="274320" y="3127248"/>
            <a:ext cx="4846320" cy="658368"/>
          </a:xfrm>
          <a:prstGeom prst="roundRect">
            <a:avLst>
              <a:gd name="adj" fmla="val 13888"/>
            </a:avLst>
          </a:prstGeom>
          <a:solidFill>
            <a:srgbClr val="E6F4EA"/>
          </a:solidFill>
          <a:ln>
            <a:noFill/>
          </a:ln>
        </p:spPr>
        <p:txBody>
          <a:bodyPr wrap="square" lIns="109728" tIns="82296" rIns="109728" bIns="73152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Decide.</a:t>
            </a:r>
            <a:r>
              <a:rPr lang="en-GB" sz="10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End a meeting: minutes, decisions and proposed tickets, accepted by a person.</a:t>
            </a:r>
            <a:endParaRPr lang="en-GB" sz="1050" dirty="0">
              <a:latin typeface="Google Sans Flex"/>
            </a:endParaRPr>
          </a:p>
        </p:txBody>
      </p:sp>
      <p:sp>
        <p:nvSpPr>
          <p:cNvPr id="305" name="Card 305"/>
          <p:cNvSpPr/>
          <p:nvPr/>
        </p:nvSpPr>
        <p:spPr>
          <a:xfrm>
            <a:off x="274320" y="3858768"/>
            <a:ext cx="4846320" cy="658368"/>
          </a:xfrm>
          <a:prstGeom prst="roundRect">
            <a:avLst>
              <a:gd name="adj" fmla="val 13888"/>
            </a:avLst>
          </a:prstGeom>
          <a:solidFill>
            <a:srgbClr val="F3E8FD"/>
          </a:solidFill>
          <a:ln>
            <a:noFill/>
          </a:ln>
        </p:spPr>
        <p:txBody>
          <a:bodyPr wrap="square" lIns="109728" tIns="82296" rIns="109728" bIns="73152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Ship.</a:t>
            </a:r>
            <a:r>
              <a:rPr lang="en-GB" sz="10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Plan, Design, Build, Test, Release, Deploy: real builds, real tests, a real canary on Google Cloud.</a:t>
            </a:r>
            <a:endParaRPr lang="en-GB" sz="1050" dirty="0">
              <a:latin typeface="Google Sans Flex"/>
            </a:endParaRPr>
          </a:p>
        </p:txBody>
      </p:sp>
      <p:pic>
        <p:nvPicPr>
          <p:cNvPr id="306" name="Picture 306" descr="The Plan stage in the live demo: the ticket panel with the Planner Agent's spec and its acceptance criteria, the pixel office in the middle and the room chat on the right.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5349240" y="1280160"/>
            <a:ext cx="3520440" cy="2200046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307" name="Text 307"/>
          <p:cNvSpPr txBox="1"/>
          <p:nvPr/>
        </p:nvSpPr>
        <p:spPr>
          <a:xfrm>
            <a:off x="5349240" y="3511296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spec drafted by the Planner Agent, waiting for a person to accept it.</a:t>
            </a:r>
            <a:endParaRPr lang="en-GB" sz="900" dirty="0">
              <a:latin typeface="Google Sans Flex"/>
            </a:endParaRPr>
          </a:p>
        </p:txBody>
      </p:sp>
      <p:sp>
        <p:nvSpPr>
          <p:cNvPr id="308" name="Card 308"/>
          <p:cNvSpPr/>
          <p:nvPr/>
        </p:nvSpPr>
        <p:spPr>
          <a:xfrm>
            <a:off x="5349240" y="3977640"/>
            <a:ext cx="11430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36576" tIns="36576" rIns="36576" bIns="36576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10</a:t>
            </a:r>
            <a:endParaRPr lang="en-GB" sz="1300" dirty="0">
              <a:latin typeface="Google Sans Flex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colleagues</a:t>
            </a:r>
            <a:endParaRPr lang="en-GB" sz="900" dirty="0">
              <a:latin typeface="Google Sans Flex"/>
            </a:endParaRPr>
          </a:p>
        </p:txBody>
      </p:sp>
      <p:sp>
        <p:nvSpPr>
          <p:cNvPr id="309" name="Card 309"/>
          <p:cNvSpPr/>
          <p:nvPr/>
        </p:nvSpPr>
        <p:spPr>
          <a:xfrm>
            <a:off x="6537960" y="3977640"/>
            <a:ext cx="11430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36576" tIns="36576" rIns="36576" bIns="36576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</a:t>
            </a:r>
            <a:endParaRPr lang="en-GB" sz="1300" dirty="0">
              <a:latin typeface="Google Sans Flex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stages, each with a gate</a:t>
            </a:r>
            <a:endParaRPr lang="en-GB" sz="900" dirty="0">
              <a:latin typeface="Google Sans Flex"/>
            </a:endParaRPr>
          </a:p>
        </p:txBody>
      </p:sp>
      <p:sp>
        <p:nvSpPr>
          <p:cNvPr id="310" name="Card 310"/>
          <p:cNvSpPr/>
          <p:nvPr/>
        </p:nvSpPr>
        <p:spPr>
          <a:xfrm>
            <a:off x="7726680" y="3977640"/>
            <a:ext cx="11430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36576" tIns="36576" rIns="36576" bIns="36576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Real</a:t>
            </a:r>
            <a:endParaRPr lang="en-GB" sz="1300" dirty="0">
              <a:latin typeface="Google Sans Flex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Build and Cloud Run</a:t>
            </a:r>
            <a:endParaRPr lang="en-GB" sz="900" dirty="0">
              <a:latin typeface="Google Sans Flex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Opportunities</a:t>
            </a:r>
            <a:endParaRPr lang="en-GB" sz="1600" dirty="0">
              <a:latin typeface="Google Sans Flex Medium"/>
            </a:endParaRPr>
          </a:p>
        </p:txBody>
      </p:sp>
      <p:sp>
        <p:nvSpPr>
          <p:cNvPr id="302" name="Card 302"/>
          <p:cNvSpPr/>
          <p:nvPr/>
        </p:nvSpPr>
        <p:spPr>
          <a:xfrm>
            <a:off x="274320" y="1207008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E8F0FE"/>
          </a:solidFill>
          <a:ln>
            <a:noFill/>
          </a:ln>
        </p:spPr>
        <p:txBody>
          <a:bodyPr wrap="square" lIns="128016" tIns="109728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lang="en-GB" sz="12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Coding copilots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write code in an editor. Ours carries the whole change: spec, design, code, tests, release, rollout, with a gate between each.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CI/CD tools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run what a person already wrote. Ours has colleagues that draft the work and people who approve it.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Chat assistants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answer without sources. Ours cites the doc or ticket, checks every claim and refuses when nothing supports it.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Not a bot in a window: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the colleagues walk the office and show what they are doing.</a:t>
            </a:r>
            <a:endParaRPr lang="en-GB" sz="1000" dirty="0">
              <a:latin typeface="Google Sans Flex"/>
            </a:endParaRPr>
          </a:p>
        </p:txBody>
      </p:sp>
      <p:sp>
        <p:nvSpPr>
          <p:cNvPr id="303" name="Card 303"/>
          <p:cNvSpPr/>
          <p:nvPr/>
        </p:nvSpPr>
        <p:spPr>
          <a:xfrm>
            <a:off x="3200400" y="1207008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E6F4EA"/>
          </a:solidFill>
          <a:ln>
            <a:noFill/>
          </a:ln>
        </p:spPr>
        <p:txBody>
          <a:bodyPr wrap="square" lIns="128016" tIns="109728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lang="en-GB" sz="12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Hand-offs shrink: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the same ticket carries its spec, design, code, test results and release notes from stage to stage.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Agents propose, people decide: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every artifact waits for a person; an approval is tied to the exact content (its digest).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Real checks, not opinions: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builds, unit and end-to-end tests, a vulnerability scan and a measured canary decide whether a change moves on.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Knowledge stays close: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the same colleagues answer from the team’s docs, tickets and meetings.</a:t>
            </a:r>
            <a:endParaRPr lang="en-GB" sz="1000" dirty="0">
              <a:latin typeface="Google Sans Flex"/>
            </a:endParaRPr>
          </a:p>
        </p:txBody>
      </p:sp>
      <p:sp>
        <p:nvSpPr>
          <p:cNvPr id="304" name="Card 304"/>
          <p:cNvSpPr/>
          <p:nvPr/>
        </p:nvSpPr>
        <p:spPr>
          <a:xfrm>
            <a:off x="6126480" y="1207008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F3E8FD"/>
          </a:solidFill>
          <a:ln>
            <a:noFill/>
          </a:ln>
        </p:spPr>
        <p:txBody>
          <a:bodyPr wrap="square" lIns="128016" tIns="109728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lang="en-GB" sz="12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Safe to run AI-written code: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tests run with the network off, files are limited to three folders, a scan blocks forbidden calls, designs show only in a sandboxed frame.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Thresholds, not a model, judge a rollout: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a bad candidate rolls itself back; the AI only writes it up.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It says no, for real: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an agent’s change broke an existing end-to-end test and the gate stayed red; our first release was refused for critical flaws in the base image.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Built on Google Cloud end to end: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service identities, no API keys, jobs that cost nothing when idle.</a:t>
            </a:r>
            <a:endParaRPr lang="en-GB" sz="1000" dirty="0">
              <a:latin typeface="Google Sans Flex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lang="en-GB" sz="1600" dirty="0">
              <a:latin typeface="Google Sans Flex Medium"/>
            </a:endParaRPr>
          </a:p>
        </p:txBody>
      </p:sp>
      <p:sp>
        <p:nvSpPr>
          <p:cNvPr id="302" name="Card 302"/>
          <p:cNvSpPr/>
          <p:nvPr/>
        </p:nvSpPr>
        <p:spPr>
          <a:xfrm>
            <a:off x="274320" y="1234440"/>
            <a:ext cx="2011680" cy="1481328"/>
          </a:xfrm>
          <a:prstGeom prst="roundRect">
            <a:avLst>
              <a:gd name="adj" fmla="val 6172"/>
            </a:avLst>
          </a:prstGeom>
          <a:solidFill>
            <a:srgbClr val="E8F0FE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 Plan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Planner Agent drafts a spec: story, acceptance criteria, estimate, risks.</a:t>
            </a:r>
            <a:endParaRPr lang="en-GB" sz="1000" dirty="0">
              <a:latin typeface="Google Sans Flex"/>
            </a:endParaRPr>
          </a:p>
        </p:txBody>
      </p:sp>
      <p:sp>
        <p:nvSpPr>
          <p:cNvPr id="303" name="Card 303"/>
          <p:cNvSpPr/>
          <p:nvPr/>
        </p:nvSpPr>
        <p:spPr>
          <a:xfrm>
            <a:off x="2468880" y="1234440"/>
            <a:ext cx="2011680" cy="1481328"/>
          </a:xfrm>
          <a:prstGeom prst="roundRect">
            <a:avLst>
              <a:gd name="adj" fmla="val 6172"/>
            </a:avLst>
          </a:prstGeom>
          <a:solidFill>
            <a:srgbClr val="E6F4EA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  Design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Designer Agent draws a prototype, shown in a sandboxed frame.</a:t>
            </a:r>
            <a:endParaRPr lang="en-GB" sz="1000" dirty="0">
              <a:latin typeface="Google Sans Flex"/>
            </a:endParaRPr>
          </a:p>
        </p:txBody>
      </p:sp>
      <p:sp>
        <p:nvSpPr>
          <p:cNvPr id="304" name="Card 304"/>
          <p:cNvSpPr/>
          <p:nvPr/>
        </p:nvSpPr>
        <p:spPr>
          <a:xfrm>
            <a:off x="4663440" y="1234440"/>
            <a:ext cx="2011680" cy="1481328"/>
          </a:xfrm>
          <a:prstGeom prst="roundRect">
            <a:avLst>
              <a:gd name="adj" fmla="val 6172"/>
            </a:avLst>
          </a:prstGeom>
          <a:solidFill>
            <a:srgbClr val="FEF7E0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  Build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Developer Agent writes a change set. You read it as a diff, then run the real build.</a:t>
            </a:r>
            <a:endParaRPr lang="en-GB" sz="1000" dirty="0">
              <a:latin typeface="Google Sans Flex"/>
            </a:endParaRPr>
          </a:p>
        </p:txBody>
      </p:sp>
      <p:sp>
        <p:nvSpPr>
          <p:cNvPr id="305" name="Card 305"/>
          <p:cNvSpPr/>
          <p:nvPr/>
        </p:nvSpPr>
        <p:spPr>
          <a:xfrm>
            <a:off x="6858000" y="1234440"/>
            <a:ext cx="2011680" cy="1481328"/>
          </a:xfrm>
          <a:prstGeom prst="roundRect">
            <a:avLst>
              <a:gd name="adj" fmla="val 6172"/>
            </a:avLst>
          </a:prstGeom>
          <a:solidFill>
            <a:srgbClr val="F3E8FD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  Test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Unit tests with coverage and Playwright run with the network off. QA adds tests.</a:t>
            </a:r>
            <a:endParaRPr lang="en-GB" sz="1000" dirty="0">
              <a:latin typeface="Google Sans Flex"/>
            </a:endParaRPr>
          </a:p>
        </p:txBody>
      </p:sp>
      <p:sp>
        <p:nvSpPr>
          <p:cNvPr id="306" name="Card 306"/>
          <p:cNvSpPr/>
          <p:nvPr/>
        </p:nvSpPr>
        <p:spPr>
          <a:xfrm>
            <a:off x="274320" y="2862072"/>
            <a:ext cx="2011680" cy="1481328"/>
          </a:xfrm>
          <a:prstGeom prst="roundRect">
            <a:avLst>
              <a:gd name="adj" fmla="val 6172"/>
            </a:avLst>
          </a:prstGeom>
          <a:solidFill>
            <a:srgbClr val="E8F0FE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  Release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Release Agent writes the pack. An image is built and scanned for vulnerabilities.</a:t>
            </a:r>
            <a:endParaRPr lang="en-GB" sz="1000" dirty="0">
              <a:latin typeface="Google Sans Flex"/>
            </a:endParaRPr>
          </a:p>
        </p:txBody>
      </p:sp>
      <p:sp>
        <p:nvSpPr>
          <p:cNvPr id="307" name="Card 307"/>
          <p:cNvSpPr/>
          <p:nvPr/>
        </p:nvSpPr>
        <p:spPr>
          <a:xfrm>
            <a:off x="2468880" y="2862072"/>
            <a:ext cx="2011680" cy="1481328"/>
          </a:xfrm>
          <a:prstGeom prst="roundRect">
            <a:avLst>
              <a:gd name="adj" fmla="val 6172"/>
            </a:avLst>
          </a:prstGeom>
          <a:solidFill>
            <a:srgbClr val="E6F4EA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  Deploy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Staging, then production at 10, 50 and 100 percent, with checks and automatic rollback.</a:t>
            </a:r>
            <a:endParaRPr lang="en-GB" sz="1000" dirty="0">
              <a:latin typeface="Google Sans Flex"/>
            </a:endParaRPr>
          </a:p>
        </p:txBody>
      </p:sp>
      <p:sp>
        <p:nvSpPr>
          <p:cNvPr id="308" name="Card 308"/>
          <p:cNvSpPr/>
          <p:nvPr/>
        </p:nvSpPr>
        <p:spPr>
          <a:xfrm>
            <a:off x="4663440" y="2862072"/>
            <a:ext cx="2011680" cy="1481328"/>
          </a:xfrm>
          <a:prstGeom prst="roundRect">
            <a:avLst>
              <a:gd name="adj" fmla="val 6172"/>
            </a:avLst>
          </a:prstGeom>
          <a:solidFill>
            <a:srgbClr val="FEF7E0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7  Tools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Thresholds you can edit, budgets, an audit trail, and honest integration status.</a:t>
            </a:r>
            <a:endParaRPr lang="en-GB" sz="1000" dirty="0">
              <a:latin typeface="Google Sans Flex"/>
            </a:endParaRPr>
          </a:p>
        </p:txBody>
      </p:sp>
      <p:sp>
        <p:nvSpPr>
          <p:cNvPr id="309" name="Card 309"/>
          <p:cNvSpPr/>
          <p:nvPr/>
        </p:nvSpPr>
        <p:spPr>
          <a:xfrm>
            <a:off x="6858000" y="2862072"/>
            <a:ext cx="2011680" cy="1481328"/>
          </a:xfrm>
          <a:prstGeom prst="roundRect">
            <a:avLst>
              <a:gd name="adj" fmla="val 6172"/>
            </a:avLst>
          </a:prstGeom>
          <a:solidFill>
            <a:srgbClr val="F3E8FD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8  Office and knowledge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Cited answers, minutes and proposed tickets from meetings, and the pixel office.</a:t>
            </a:r>
            <a:endParaRPr lang="en-GB" sz="1000" dirty="0">
              <a:latin typeface="Google Sans Flex"/>
            </a:endParaRPr>
          </a:p>
        </p:txBody>
      </p:sp>
      <p:sp>
        <p:nvSpPr>
          <p:cNvPr id="310" name="Text 310"/>
          <p:cNvSpPr txBox="1"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Also:</a:t>
            </a: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gates that read the same rules the server enforces, a per-environment lock, per-guest and daily budgets with a kill switch, guest access with no sign-in, and a nightly reset of the demo and of Google’s side.</a:t>
            </a:r>
            <a:endParaRPr lang="en-GB" sz="950" dirty="0">
              <a:latin typeface="Google Sans Flex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lang="en-GB" sz="1600" dirty="0">
              <a:latin typeface="Google Sans Flex Medium"/>
            </a:endParaRPr>
          </a:p>
        </p:txBody>
      </p:sp>
      <p:sp>
        <p:nvSpPr>
          <p:cNvPr id="302" name="Card 302"/>
          <p:cNvSpPr/>
          <p:nvPr/>
        </p:nvSpPr>
        <p:spPr>
          <a:xfrm>
            <a:off x="274320" y="1298448"/>
            <a:ext cx="1298448" cy="1078992"/>
          </a:xfrm>
          <a:prstGeom prst="roundRect">
            <a:avLst>
              <a:gd name="adj" fmla="val 8474"/>
            </a:avLst>
          </a:prstGeom>
          <a:solidFill>
            <a:srgbClr val="E8F0FE"/>
          </a:solidFill>
          <a:ln w="9525">
            <a:solidFill>
              <a:srgbClr val="1A73E8"/>
            </a:solidFill>
          </a:ln>
        </p:spPr>
        <p:txBody>
          <a:bodyPr wrap="square" lIns="91440" tIns="73152" rIns="54864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 Plan</a:t>
            </a:r>
            <a:endParaRPr lang="en-GB" sz="11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Planner Agent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makes: spec</a:t>
            </a:r>
            <a:endParaRPr lang="en-GB" sz="950" dirty="0">
              <a:latin typeface="Google Sans Flex"/>
            </a:endParaRPr>
          </a:p>
        </p:txBody>
      </p:sp>
      <p:sp>
        <p:nvSpPr>
          <p:cNvPr id="303" name="Text 303"/>
          <p:cNvSpPr txBox="1"/>
          <p:nvPr/>
        </p:nvSpPr>
        <p:spPr>
          <a:xfrm>
            <a:off x="274320" y="2414016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gate: spec accepted</a:t>
            </a:r>
            <a:endParaRPr lang="en-GB" sz="900" dirty="0">
              <a:latin typeface="Google Sans Flex"/>
            </a:endParaRPr>
          </a:p>
        </p:txBody>
      </p:sp>
      <p:cxnSp>
        <p:nvCxnSpPr>
          <p:cNvPr id="304" name="Line 304"/>
          <p:cNvCxnSpPr/>
          <p:nvPr/>
        </p:nvCxnSpPr>
        <p:spPr>
          <a:xfrm>
            <a:off x="1581912" y="1837944"/>
            <a:ext cx="14264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05" name="Card 305"/>
          <p:cNvSpPr/>
          <p:nvPr/>
        </p:nvSpPr>
        <p:spPr>
          <a:xfrm>
            <a:off x="1733702" y="1298448"/>
            <a:ext cx="1298448" cy="1078992"/>
          </a:xfrm>
          <a:prstGeom prst="roundRect">
            <a:avLst>
              <a:gd name="adj" fmla="val 8474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</p:spPr>
        <p:txBody>
          <a:bodyPr wrap="square" lIns="91440" tIns="73152" rIns="54864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  Design</a:t>
            </a:r>
            <a:endParaRPr lang="en-GB" sz="11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Designer Agent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makes: design</a:t>
            </a:r>
            <a:endParaRPr lang="en-GB" sz="950" dirty="0">
              <a:latin typeface="Google Sans Flex"/>
            </a:endParaRPr>
          </a:p>
        </p:txBody>
      </p:sp>
      <p:sp>
        <p:nvSpPr>
          <p:cNvPr id="306" name="Text 306"/>
          <p:cNvSpPr txBox="1"/>
          <p:nvPr/>
        </p:nvSpPr>
        <p:spPr>
          <a:xfrm>
            <a:off x="1733702" y="2414016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gate: design accepted</a:t>
            </a:r>
            <a:endParaRPr lang="en-GB" sz="900" dirty="0">
              <a:latin typeface="Google Sans Flex"/>
            </a:endParaRPr>
          </a:p>
        </p:txBody>
      </p:sp>
      <p:cxnSp>
        <p:nvCxnSpPr>
          <p:cNvPr id="307" name="Line 307"/>
          <p:cNvCxnSpPr/>
          <p:nvPr/>
        </p:nvCxnSpPr>
        <p:spPr>
          <a:xfrm>
            <a:off x="3041294" y="1837944"/>
            <a:ext cx="14264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08" name="Card 308"/>
          <p:cNvSpPr/>
          <p:nvPr/>
        </p:nvSpPr>
        <p:spPr>
          <a:xfrm>
            <a:off x="3193085" y="1298448"/>
            <a:ext cx="1298448" cy="1078992"/>
          </a:xfrm>
          <a:prstGeom prst="roundRect">
            <a:avLst>
              <a:gd name="adj" fmla="val 8474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</p:spPr>
        <p:txBody>
          <a:bodyPr wrap="square" lIns="91440" tIns="73152" rIns="54864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  Build</a:t>
            </a:r>
            <a:endParaRPr lang="en-GB" sz="11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Developer Agent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makes: change set</a:t>
            </a:r>
            <a:endParaRPr lang="en-GB" sz="950" dirty="0">
              <a:latin typeface="Google Sans Flex"/>
            </a:endParaRPr>
          </a:p>
        </p:txBody>
      </p:sp>
      <p:sp>
        <p:nvSpPr>
          <p:cNvPr id="309" name="Text 309"/>
          <p:cNvSpPr txBox="1"/>
          <p:nvPr/>
        </p:nvSpPr>
        <p:spPr>
          <a:xfrm>
            <a:off x="3193085" y="2414016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gate: build passes</a:t>
            </a:r>
            <a:endParaRPr lang="en-GB" sz="900" dirty="0">
              <a:latin typeface="Google Sans Flex"/>
            </a:endParaRPr>
          </a:p>
        </p:txBody>
      </p:sp>
      <p:cxnSp>
        <p:nvCxnSpPr>
          <p:cNvPr id="310" name="Line 310"/>
          <p:cNvCxnSpPr/>
          <p:nvPr/>
        </p:nvCxnSpPr>
        <p:spPr>
          <a:xfrm>
            <a:off x="4500677" y="1837944"/>
            <a:ext cx="14264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11" name="Card 311"/>
          <p:cNvSpPr/>
          <p:nvPr/>
        </p:nvSpPr>
        <p:spPr>
          <a:xfrm>
            <a:off x="4652467" y="1298448"/>
            <a:ext cx="1298448" cy="1078992"/>
          </a:xfrm>
          <a:prstGeom prst="roundRect">
            <a:avLst>
              <a:gd name="adj" fmla="val 8474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</p:spPr>
        <p:txBody>
          <a:bodyPr wrap="square" lIns="91440" tIns="73152" rIns="54864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  Test</a:t>
            </a:r>
            <a:endParaRPr lang="en-GB" sz="11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QA Agent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makes: test report</a:t>
            </a:r>
            <a:endParaRPr lang="en-GB" sz="950" dirty="0">
              <a:latin typeface="Google Sans Flex"/>
            </a:endParaRPr>
          </a:p>
        </p:txBody>
      </p:sp>
      <p:sp>
        <p:nvSpPr>
          <p:cNvPr id="312" name="Text 312"/>
          <p:cNvSpPr txBox="1"/>
          <p:nvPr/>
        </p:nvSpPr>
        <p:spPr>
          <a:xfrm>
            <a:off x="4652467" y="2414016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gate: tests and coverage</a:t>
            </a:r>
            <a:endParaRPr lang="en-GB" sz="900" dirty="0">
              <a:latin typeface="Google Sans Flex"/>
            </a:endParaRPr>
          </a:p>
        </p:txBody>
      </p:sp>
      <p:cxnSp>
        <p:nvCxnSpPr>
          <p:cNvPr id="313" name="Line 313"/>
          <p:cNvCxnSpPr/>
          <p:nvPr/>
        </p:nvCxnSpPr>
        <p:spPr>
          <a:xfrm>
            <a:off x="5960059" y="1837944"/>
            <a:ext cx="14264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14" name="Card 314"/>
          <p:cNvSpPr/>
          <p:nvPr/>
        </p:nvSpPr>
        <p:spPr>
          <a:xfrm>
            <a:off x="6111850" y="1298448"/>
            <a:ext cx="1298448" cy="1078992"/>
          </a:xfrm>
          <a:prstGeom prst="roundRect">
            <a:avLst>
              <a:gd name="adj" fmla="val 8474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</p:spPr>
        <p:txBody>
          <a:bodyPr wrap="square" lIns="91440" tIns="73152" rIns="54864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  Release</a:t>
            </a:r>
            <a:endParaRPr lang="en-GB" sz="11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Release Agent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makes: release pack</a:t>
            </a:r>
            <a:endParaRPr lang="en-GB" sz="950" dirty="0">
              <a:latin typeface="Google Sans Flex"/>
            </a:endParaRPr>
          </a:p>
        </p:txBody>
      </p:sp>
      <p:sp>
        <p:nvSpPr>
          <p:cNvPr id="315" name="Text 315"/>
          <p:cNvSpPr txBox="1"/>
          <p:nvPr/>
        </p:nvSpPr>
        <p:spPr>
          <a:xfrm>
            <a:off x="6111850" y="2414016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gate: scan and approval</a:t>
            </a:r>
            <a:endParaRPr lang="en-GB" sz="900" dirty="0">
              <a:latin typeface="Google Sans Flex"/>
            </a:endParaRPr>
          </a:p>
        </p:txBody>
      </p:sp>
      <p:cxnSp>
        <p:nvCxnSpPr>
          <p:cNvPr id="316" name="Line 316"/>
          <p:cNvCxnSpPr/>
          <p:nvPr/>
        </p:nvCxnSpPr>
        <p:spPr>
          <a:xfrm>
            <a:off x="7419442" y="1837944"/>
            <a:ext cx="142646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</p:cxnSp>
      <p:sp>
        <p:nvSpPr>
          <p:cNvPr id="317" name="Card 317"/>
          <p:cNvSpPr/>
          <p:nvPr/>
        </p:nvSpPr>
        <p:spPr>
          <a:xfrm>
            <a:off x="7571232" y="1298448"/>
            <a:ext cx="1298448" cy="1078992"/>
          </a:xfrm>
          <a:prstGeom prst="roundRect">
            <a:avLst>
              <a:gd name="adj" fmla="val 8474"/>
            </a:avLst>
          </a:prstGeom>
          <a:solidFill>
            <a:srgbClr val="E8F0FE"/>
          </a:solidFill>
          <a:ln w="9525">
            <a:solidFill>
              <a:srgbClr val="1A73E8"/>
            </a:solidFill>
          </a:ln>
        </p:spPr>
        <p:txBody>
          <a:bodyPr wrap="square" lIns="91440" tIns="73152" rIns="54864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  Deploy</a:t>
            </a:r>
            <a:endParaRPr lang="en-GB" sz="11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Release Agent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makes: rollout report</a:t>
            </a:r>
            <a:endParaRPr lang="en-GB" sz="950" dirty="0">
              <a:latin typeface="Google Sans Flex"/>
            </a:endParaRPr>
          </a:p>
        </p:txBody>
      </p:sp>
      <p:sp>
        <p:nvSpPr>
          <p:cNvPr id="318" name="Text 318"/>
          <p:cNvSpPr txBox="1"/>
          <p:nvPr/>
        </p:nvSpPr>
        <p:spPr>
          <a:xfrm>
            <a:off x="7571232" y="2414016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gate: 100% and healthy</a:t>
            </a:r>
            <a:endParaRPr lang="en-GB" sz="900" dirty="0">
              <a:latin typeface="Google Sans Flex"/>
            </a:endParaRPr>
          </a:p>
        </p:txBody>
      </p:sp>
      <p:sp>
        <p:nvSpPr>
          <p:cNvPr id="319" name="Text 319"/>
          <p:cNvSpPr txBox="1"/>
          <p:nvPr/>
        </p:nvSpPr>
        <p:spPr>
          <a:xfrm>
            <a:off x="274320" y="270662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person presses Approve &amp; advance only when the gate’s checklist is green. Any ticket can be sent back to an earlier stage.</a:t>
            </a:r>
            <a:endParaRPr lang="en-GB" sz="950" dirty="0">
              <a:latin typeface="Google Sans Flex"/>
            </a:endParaRPr>
          </a:p>
        </p:txBody>
      </p:sp>
      <p:sp>
        <p:nvSpPr>
          <p:cNvPr id="320" name="Card 320"/>
          <p:cNvSpPr/>
          <p:nvPr/>
        </p:nvSpPr>
        <p:spPr>
          <a:xfrm>
            <a:off x="274320" y="3200400"/>
            <a:ext cx="2743200" cy="1709928"/>
          </a:xfrm>
          <a:prstGeom prst="roundRect">
            <a:avLst>
              <a:gd name="adj" fmla="val 5347"/>
            </a:avLst>
          </a:prstGeom>
          <a:solidFill>
            <a:srgbClr val="E8F0FE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Agents propose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 Ask a colleague in a stage, or @mention one in the chat</a:t>
            </a:r>
            <a:endParaRPr lang="en-GB" sz="10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  It reads the repo, the spec and the job logs with read-only tools</a:t>
            </a:r>
            <a:endParaRPr lang="en-GB" sz="10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  It returns an artifact, never an action</a:t>
            </a:r>
            <a:endParaRPr lang="en-GB" sz="10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  The web service checks it again before keeping it</a:t>
            </a:r>
            <a:endParaRPr lang="en-GB" sz="1000" dirty="0">
              <a:latin typeface="Google Sans Flex"/>
            </a:endParaRPr>
          </a:p>
        </p:txBody>
      </p:sp>
      <p:sp>
        <p:nvSpPr>
          <p:cNvPr id="321" name="Card 321"/>
          <p:cNvSpPr/>
          <p:nvPr/>
        </p:nvSpPr>
        <p:spPr>
          <a:xfrm>
            <a:off x="3200400" y="3200400"/>
            <a:ext cx="2743200" cy="1709928"/>
          </a:xfrm>
          <a:prstGeom prst="roundRect">
            <a:avLst>
              <a:gd name="adj" fmla="val 5347"/>
            </a:avLst>
          </a:prstGeom>
          <a:solidFill>
            <a:srgbClr val="E6F4EA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People decide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 Accept or reject a draft: the approval is tied to its digest</a:t>
            </a:r>
            <a:endParaRPr lang="en-GB" sz="10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  Press Run: a build costs real minutes, so a person starts it</a:t>
            </a:r>
            <a:endParaRPr lang="en-GB" sz="10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  Approve &amp; advance when the gate is green</a:t>
            </a:r>
            <a:endParaRPr lang="en-GB" sz="10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  Owners start the rollout and can roll back</a:t>
            </a:r>
            <a:endParaRPr lang="en-GB" sz="1000" dirty="0">
              <a:latin typeface="Google Sans Flex"/>
            </a:endParaRPr>
          </a:p>
        </p:txBody>
      </p:sp>
      <p:sp>
        <p:nvSpPr>
          <p:cNvPr id="322" name="Card 322"/>
          <p:cNvSpPr/>
          <p:nvPr/>
        </p:nvSpPr>
        <p:spPr>
          <a:xfrm>
            <a:off x="6126480" y="3200400"/>
            <a:ext cx="2743200" cy="1709928"/>
          </a:xfrm>
          <a:prstGeom prst="roundRect">
            <a:avLst>
              <a:gd name="adj" fmla="val 5347"/>
            </a:avLst>
          </a:prstGeom>
          <a:solidFill>
            <a:srgbClr val="F3E8FD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pipeline proves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 Cloud Build runs the tests with the network off</a:t>
            </a:r>
            <a:endParaRPr lang="en-GB" sz="10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  Artifact Analysis scans the release image</a:t>
            </a:r>
            <a:endParaRPr lang="en-GB" sz="10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  Cloud Run takes traffic in steps, measured per revision</a:t>
            </a:r>
            <a:endParaRPr lang="en-GB" sz="10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  Thresholds, not a model, decide; failure rolls back</a:t>
            </a:r>
            <a:endParaRPr lang="en-GB" sz="1000" dirty="0">
              <a:latin typeface="Google Sans Flex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lang="en-GB" sz="1600" dirty="0">
              <a:latin typeface="Google Sans Flex Medium"/>
            </a:endParaRPr>
          </a:p>
        </p:txBody>
      </p:sp>
      <p:sp>
        <p:nvSpPr>
          <p:cNvPr id="302" name="Window 302"/>
          <p:cNvSpPr/>
          <p:nvPr/>
        </p:nvSpPr>
        <p:spPr>
          <a:xfrm>
            <a:off x="320040" y="1188720"/>
            <a:ext cx="850392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9AA0A6"/>
            </a:solidFill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03" name="Text 303"/>
          <p:cNvSpPr txBox="1"/>
          <p:nvPr/>
        </p:nvSpPr>
        <p:spPr>
          <a:xfrm>
            <a:off x="457200" y="12161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Worktrees Studio</a:t>
            </a:r>
            <a:endParaRPr lang="en-GB" sz="950" dirty="0">
              <a:latin typeface="Google Sans Flex"/>
            </a:endParaRPr>
          </a:p>
        </p:txBody>
      </p:sp>
      <p:sp>
        <p:nvSpPr>
          <p:cNvPr id="304" name="Pill 304"/>
          <p:cNvSpPr/>
          <p:nvPr/>
        </p:nvSpPr>
        <p:spPr>
          <a:xfrm>
            <a:off x="3200400" y="1243584"/>
            <a:ext cx="3291840" cy="20116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workspace: synthetic data, resets nightly, 20 AI runs left</a:t>
            </a:r>
            <a:endParaRPr lang="en-GB" sz="900" dirty="0">
              <a:latin typeface="Google Sans Flex"/>
            </a:endParaRPr>
          </a:p>
        </p:txBody>
      </p:sp>
      <p:sp>
        <p:nvSpPr>
          <p:cNvPr id="305" name="Sidebar 305"/>
          <p:cNvSpPr/>
          <p:nvPr/>
        </p:nvSpPr>
        <p:spPr>
          <a:xfrm>
            <a:off x="411480" y="1554480"/>
            <a:ext cx="1005840" cy="29718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06" name="Sidebar item 306"/>
          <p:cNvSpPr/>
          <p:nvPr/>
        </p:nvSpPr>
        <p:spPr>
          <a:xfrm>
            <a:off x="457200" y="1618488"/>
            <a:ext cx="914400" cy="347472"/>
          </a:xfrm>
          <a:prstGeom prst="roundRect">
            <a:avLst>
              <a:gd name="adj" fmla="val 15789"/>
            </a:avLst>
          </a:prstGeom>
          <a:noFill/>
          <a:ln>
            <a:noFill/>
          </a:ln>
        </p:spPr>
        <p:txBody>
          <a:bodyPr wrap="square" lIns="73152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</a:t>
            </a:r>
            <a:endParaRPr lang="en-GB" sz="950" dirty="0">
              <a:latin typeface="Google Sans Flex"/>
            </a:endParaRPr>
          </a:p>
        </p:txBody>
      </p:sp>
      <p:sp>
        <p:nvSpPr>
          <p:cNvPr id="307" name="Sidebar item 307"/>
          <p:cNvSpPr/>
          <p:nvPr/>
        </p:nvSpPr>
        <p:spPr>
          <a:xfrm>
            <a:off x="457200" y="2020824"/>
            <a:ext cx="914400" cy="347472"/>
          </a:xfrm>
          <a:prstGeom prst="roundRect">
            <a:avLst>
              <a:gd name="adj" fmla="val 15789"/>
            </a:avLst>
          </a:prstGeom>
          <a:noFill/>
          <a:ln>
            <a:noFill/>
          </a:ln>
        </p:spPr>
        <p:txBody>
          <a:bodyPr wrap="square" lIns="73152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Design</a:t>
            </a:r>
            <a:endParaRPr lang="en-GB" sz="950" dirty="0">
              <a:latin typeface="Google Sans Flex"/>
            </a:endParaRPr>
          </a:p>
        </p:txBody>
      </p:sp>
      <p:sp>
        <p:nvSpPr>
          <p:cNvPr id="308" name="Sidebar item 308"/>
          <p:cNvSpPr/>
          <p:nvPr/>
        </p:nvSpPr>
        <p:spPr>
          <a:xfrm>
            <a:off x="457200" y="242316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E8F0FE"/>
          </a:solidFill>
          <a:ln>
            <a:noFill/>
          </a:ln>
        </p:spPr>
        <p:txBody>
          <a:bodyPr wrap="square" lIns="73152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Build</a:t>
            </a:r>
            <a:endParaRPr lang="en-GB" sz="950" dirty="0">
              <a:latin typeface="Google Sans Flex"/>
            </a:endParaRPr>
          </a:p>
        </p:txBody>
      </p:sp>
      <p:sp>
        <p:nvSpPr>
          <p:cNvPr id="309" name="Sidebar item 309"/>
          <p:cNvSpPr/>
          <p:nvPr/>
        </p:nvSpPr>
        <p:spPr>
          <a:xfrm>
            <a:off x="457200" y="2825496"/>
            <a:ext cx="914400" cy="347472"/>
          </a:xfrm>
          <a:prstGeom prst="roundRect">
            <a:avLst>
              <a:gd name="adj" fmla="val 15789"/>
            </a:avLst>
          </a:prstGeom>
          <a:noFill/>
          <a:ln>
            <a:noFill/>
          </a:ln>
        </p:spPr>
        <p:txBody>
          <a:bodyPr wrap="square" lIns="73152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Test</a:t>
            </a:r>
            <a:endParaRPr lang="en-GB" sz="950" dirty="0">
              <a:latin typeface="Google Sans Flex"/>
            </a:endParaRPr>
          </a:p>
        </p:txBody>
      </p:sp>
      <p:sp>
        <p:nvSpPr>
          <p:cNvPr id="310" name="Sidebar item 310"/>
          <p:cNvSpPr/>
          <p:nvPr/>
        </p:nvSpPr>
        <p:spPr>
          <a:xfrm>
            <a:off x="457200" y="3227832"/>
            <a:ext cx="914400" cy="347472"/>
          </a:xfrm>
          <a:prstGeom prst="roundRect">
            <a:avLst>
              <a:gd name="adj" fmla="val 15789"/>
            </a:avLst>
          </a:prstGeom>
          <a:noFill/>
          <a:ln>
            <a:noFill/>
          </a:ln>
        </p:spPr>
        <p:txBody>
          <a:bodyPr wrap="square" lIns="73152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Release</a:t>
            </a:r>
            <a:endParaRPr lang="en-GB" sz="950" dirty="0">
              <a:latin typeface="Google Sans Flex"/>
            </a:endParaRPr>
          </a:p>
        </p:txBody>
      </p:sp>
      <p:sp>
        <p:nvSpPr>
          <p:cNvPr id="311" name="Sidebar item 311"/>
          <p:cNvSpPr/>
          <p:nvPr/>
        </p:nvSpPr>
        <p:spPr>
          <a:xfrm>
            <a:off x="457200" y="3630168"/>
            <a:ext cx="914400" cy="347472"/>
          </a:xfrm>
          <a:prstGeom prst="roundRect">
            <a:avLst>
              <a:gd name="adj" fmla="val 15789"/>
            </a:avLst>
          </a:prstGeom>
          <a:noFill/>
          <a:ln>
            <a:noFill/>
          </a:ln>
        </p:spPr>
        <p:txBody>
          <a:bodyPr wrap="square" lIns="73152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Deploy</a:t>
            </a:r>
            <a:endParaRPr lang="en-GB" sz="950" dirty="0">
              <a:latin typeface="Google Sans Flex"/>
            </a:endParaRPr>
          </a:p>
        </p:txBody>
      </p:sp>
      <p:sp>
        <p:nvSpPr>
          <p:cNvPr id="312" name="Sidebar item 312"/>
          <p:cNvSpPr/>
          <p:nvPr/>
        </p:nvSpPr>
        <p:spPr>
          <a:xfrm>
            <a:off x="457200" y="4032504"/>
            <a:ext cx="914400" cy="347472"/>
          </a:xfrm>
          <a:prstGeom prst="roundRect">
            <a:avLst>
              <a:gd name="adj" fmla="val 15789"/>
            </a:avLst>
          </a:prstGeom>
          <a:noFill/>
          <a:ln>
            <a:noFill/>
          </a:ln>
        </p:spPr>
        <p:txBody>
          <a:bodyPr wrap="square" lIns="73152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Tools</a:t>
            </a:r>
            <a:endParaRPr lang="en-GB" sz="950" dirty="0">
              <a:latin typeface="Google Sans Flex"/>
            </a:endParaRPr>
          </a:p>
        </p:txBody>
      </p:sp>
      <p:sp>
        <p:nvSpPr>
          <p:cNvPr id="313" name="Stage panel 313"/>
          <p:cNvSpPr/>
          <p:nvPr/>
        </p:nvSpPr>
        <p:spPr>
          <a:xfrm>
            <a:off x="1508760" y="1554480"/>
            <a:ext cx="2331720" cy="2971800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14" name="Text 314"/>
          <p:cNvSpPr txBox="1"/>
          <p:nvPr/>
        </p:nvSpPr>
        <p:spPr>
          <a:xfrm>
            <a:off x="1572768" y="158191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#17 Add a status filter</a:t>
            </a:r>
            <a:endParaRPr lang="en-GB" sz="950" dirty="0">
              <a:latin typeface="Google Sans Flex"/>
            </a:endParaRPr>
          </a:p>
        </p:txBody>
      </p:sp>
      <p:sp>
        <p:nvSpPr>
          <p:cNvPr id="315" name="Pill 315"/>
          <p:cNvSpPr/>
          <p:nvPr/>
        </p:nvSpPr>
        <p:spPr>
          <a:xfrm>
            <a:off x="1591056" y="1847088"/>
            <a:ext cx="512064" cy="17373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</a:t>
            </a:r>
            <a:endParaRPr lang="en-GB" sz="850" dirty="0">
              <a:latin typeface="Google Sans Flex"/>
            </a:endParaRPr>
          </a:p>
        </p:txBody>
      </p:sp>
      <p:sp>
        <p:nvSpPr>
          <p:cNvPr id="316" name="Pill 316"/>
          <p:cNvSpPr/>
          <p:nvPr/>
        </p:nvSpPr>
        <p:spPr>
          <a:xfrm>
            <a:off x="2139696" y="1847088"/>
            <a:ext cx="512064" cy="17373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Design</a:t>
            </a:r>
            <a:endParaRPr lang="en-GB" sz="850" dirty="0">
              <a:latin typeface="Google Sans Flex"/>
            </a:endParaRPr>
          </a:p>
        </p:txBody>
      </p:sp>
      <p:sp>
        <p:nvSpPr>
          <p:cNvPr id="317" name="Pill 317"/>
          <p:cNvSpPr/>
          <p:nvPr/>
        </p:nvSpPr>
        <p:spPr>
          <a:xfrm>
            <a:off x="2688336" y="1847088"/>
            <a:ext cx="512064" cy="17373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Build</a:t>
            </a:r>
            <a:endParaRPr lang="en-GB" sz="850" dirty="0">
              <a:latin typeface="Google Sans Flex"/>
            </a:endParaRPr>
          </a:p>
        </p:txBody>
      </p:sp>
      <p:sp>
        <p:nvSpPr>
          <p:cNvPr id="318" name="Pill 318"/>
          <p:cNvSpPr/>
          <p:nvPr/>
        </p:nvSpPr>
        <p:spPr>
          <a:xfrm>
            <a:off x="3236976" y="1847088"/>
            <a:ext cx="512064" cy="17373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Test</a:t>
            </a:r>
            <a:endParaRPr lang="en-GB" sz="850" dirty="0">
              <a:latin typeface="Google Sans Flex"/>
            </a:endParaRPr>
          </a:p>
        </p:txBody>
      </p:sp>
      <p:sp>
        <p:nvSpPr>
          <p:cNvPr id="319" name="Pill 319"/>
          <p:cNvSpPr/>
          <p:nvPr/>
        </p:nvSpPr>
        <p:spPr>
          <a:xfrm>
            <a:off x="1591056" y="2084832"/>
            <a:ext cx="1417320" cy="20116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>
            <a:noFill/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7627B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Draft the change set</a:t>
            </a:r>
            <a:endParaRPr lang="en-GB" sz="900" dirty="0">
              <a:latin typeface="Google Sans Flex"/>
            </a:endParaRPr>
          </a:p>
        </p:txBody>
      </p:sp>
      <p:sp>
        <p:nvSpPr>
          <p:cNvPr id="320" name="Card 320"/>
          <p:cNvSpPr/>
          <p:nvPr/>
        </p:nvSpPr>
        <p:spPr>
          <a:xfrm>
            <a:off x="1591056" y="2359152"/>
            <a:ext cx="2167128" cy="914400"/>
          </a:xfrm>
          <a:prstGeom prst="roundRect">
            <a:avLst>
              <a:gd name="adj" fmla="val 7000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45720" rIns="54864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Change set v1   Waiting for you</a:t>
            </a:r>
            <a:endParaRPr lang="en-GB" sz="9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OrderList.tsx   +6 −2</a:t>
            </a:r>
            <a:endParaRPr lang="en-GB" sz="9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b="0" i="0" dirty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+ aria-live count of matches</a:t>
            </a:r>
            <a:endParaRPr lang="en-GB" sz="900" dirty="0">
              <a:latin typeface="Google Sans Flex"/>
            </a:endParaRPr>
          </a:p>
        </p:txBody>
      </p:sp>
      <p:sp>
        <p:nvSpPr>
          <p:cNvPr id="321" name="Pill 321"/>
          <p:cNvSpPr/>
          <p:nvPr/>
        </p:nvSpPr>
        <p:spPr>
          <a:xfrm>
            <a:off x="2286000" y="3035808"/>
            <a:ext cx="640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Reject</a:t>
            </a:r>
            <a:endParaRPr lang="en-GB" sz="900" dirty="0">
              <a:latin typeface="Google Sans Flex"/>
            </a:endParaRPr>
          </a:p>
        </p:txBody>
      </p:sp>
      <p:sp>
        <p:nvSpPr>
          <p:cNvPr id="322" name="Pill 322"/>
          <p:cNvSpPr/>
          <p:nvPr/>
        </p:nvSpPr>
        <p:spPr>
          <a:xfrm>
            <a:off x="3017520" y="3035808"/>
            <a:ext cx="640080" cy="18288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Accept</a:t>
            </a:r>
            <a:endParaRPr lang="en-GB" sz="900" dirty="0">
              <a:latin typeface="Google Sans Flex"/>
            </a:endParaRPr>
          </a:p>
        </p:txBody>
      </p:sp>
      <p:sp>
        <p:nvSpPr>
          <p:cNvPr id="323" name="Card 323"/>
          <p:cNvSpPr/>
          <p:nvPr/>
        </p:nvSpPr>
        <p:spPr>
          <a:xfrm>
            <a:off x="1591056" y="3364992"/>
            <a:ext cx="2167128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45720" rIns="54864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leave Build</a:t>
            </a:r>
            <a:endParaRPr lang="en-GB" sz="9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  A change set is accepted</a:t>
            </a:r>
            <a:endParaRPr lang="en-GB" sz="9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  The build passes</a:t>
            </a:r>
            <a:endParaRPr lang="en-GB" sz="900" dirty="0">
              <a:latin typeface="Google Sans Flex"/>
            </a:endParaRPr>
          </a:p>
        </p:txBody>
      </p:sp>
      <p:sp>
        <p:nvSpPr>
          <p:cNvPr id="324" name="Pill 324"/>
          <p:cNvSpPr/>
          <p:nvPr/>
        </p:nvSpPr>
        <p:spPr>
          <a:xfrm>
            <a:off x="1682496" y="4114800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Approve &amp; advance to Test</a:t>
            </a:r>
            <a:endParaRPr lang="en-GB" sz="900" dirty="0">
              <a:latin typeface="Google Sans Flex"/>
            </a:endParaRPr>
          </a:p>
        </p:txBody>
      </p:sp>
      <p:sp>
        <p:nvSpPr>
          <p:cNvPr id="325" name="Office 325"/>
          <p:cNvSpPr/>
          <p:nvPr/>
        </p:nvSpPr>
        <p:spPr>
          <a:xfrm>
            <a:off x="3931920" y="1554480"/>
            <a:ext cx="2423160" cy="2971800"/>
          </a:xfrm>
          <a:prstGeom prst="roundRect">
            <a:avLst>
              <a:gd name="adj" fmla="val 2264"/>
            </a:avLst>
          </a:prstGeom>
          <a:solidFill>
            <a:srgbClr val="EFE6D6"/>
          </a:solidFill>
          <a:ln w="9525">
            <a:solidFill>
              <a:srgbClr val="DADCE0"/>
            </a:solidFill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26" name="Rug 326"/>
          <p:cNvSpPr/>
          <p:nvPr/>
        </p:nvSpPr>
        <p:spPr>
          <a:xfrm>
            <a:off x="4160520" y="1783080"/>
            <a:ext cx="914400" cy="594360"/>
          </a:xfrm>
          <a:prstGeom prst="roundRect">
            <a:avLst>
              <a:gd name="adj" fmla="val 6153"/>
            </a:avLst>
          </a:prstGeom>
          <a:solidFill>
            <a:srgbClr val="C9D6EE"/>
          </a:solidFill>
          <a:ln>
            <a:noFill/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27" name="Sofa 327"/>
          <p:cNvSpPr/>
          <p:nvPr/>
        </p:nvSpPr>
        <p:spPr>
          <a:xfrm>
            <a:off x="5349240" y="1737360"/>
            <a:ext cx="777240" cy="329184"/>
          </a:xfrm>
          <a:prstGeom prst="roundRect">
            <a:avLst>
              <a:gd name="adj" fmla="val 13888"/>
            </a:avLst>
          </a:prstGeom>
          <a:solidFill>
            <a:srgbClr val="B8706A"/>
          </a:solidFill>
          <a:ln>
            <a:noFill/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28" name="Pill 328"/>
          <p:cNvSpPr/>
          <p:nvPr/>
        </p:nvSpPr>
        <p:spPr>
          <a:xfrm>
            <a:off x="4023360" y="2606040"/>
            <a:ext cx="114300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Developer Agent</a:t>
            </a:r>
            <a:endParaRPr lang="en-GB" sz="900" dirty="0">
              <a:latin typeface="Google Sans Flex"/>
            </a:endParaRPr>
          </a:p>
        </p:txBody>
      </p:sp>
      <p:sp>
        <p:nvSpPr>
          <p:cNvPr id="329" name="Person 329"/>
          <p:cNvSpPr/>
          <p:nvPr/>
        </p:nvSpPr>
        <p:spPr>
          <a:xfrm>
            <a:off x="4539996" y="2807208"/>
            <a:ext cx="109728" cy="201168"/>
          </a:xfrm>
          <a:prstGeom prst="roundRect">
            <a:avLst>
              <a:gd name="adj" fmla="val 41666"/>
            </a:avLst>
          </a:prstGeom>
          <a:solidFill>
            <a:srgbClr val="7627BB"/>
          </a:solidFill>
          <a:ln>
            <a:noFill/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30" name="Pill 330"/>
          <p:cNvSpPr/>
          <p:nvPr/>
        </p:nvSpPr>
        <p:spPr>
          <a:xfrm>
            <a:off x="5212080" y="2606040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Designer Agent</a:t>
            </a:r>
            <a:endParaRPr lang="en-GB" sz="900" dirty="0">
              <a:latin typeface="Google Sans Flex"/>
            </a:endParaRPr>
          </a:p>
        </p:txBody>
      </p:sp>
      <p:sp>
        <p:nvSpPr>
          <p:cNvPr id="331" name="Person 331"/>
          <p:cNvSpPr/>
          <p:nvPr/>
        </p:nvSpPr>
        <p:spPr>
          <a:xfrm>
            <a:off x="5705856" y="2807208"/>
            <a:ext cx="109728" cy="201168"/>
          </a:xfrm>
          <a:prstGeom prst="roundRect">
            <a:avLst>
              <a:gd name="adj" fmla="val 41666"/>
            </a:avLst>
          </a:prstGeom>
          <a:solidFill>
            <a:srgbClr val="7627BB"/>
          </a:solidFill>
          <a:ln>
            <a:noFill/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32" name="Pill 332"/>
          <p:cNvSpPr/>
          <p:nvPr/>
        </p:nvSpPr>
        <p:spPr>
          <a:xfrm>
            <a:off x="4023360" y="3017520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Planner Agent</a:t>
            </a:r>
            <a:endParaRPr lang="en-GB" sz="900" dirty="0">
              <a:latin typeface="Google Sans Flex"/>
            </a:endParaRPr>
          </a:p>
        </p:txBody>
      </p:sp>
      <p:sp>
        <p:nvSpPr>
          <p:cNvPr id="333" name="Person 333"/>
          <p:cNvSpPr/>
          <p:nvPr/>
        </p:nvSpPr>
        <p:spPr>
          <a:xfrm>
            <a:off x="4517136" y="3218688"/>
            <a:ext cx="109728" cy="201168"/>
          </a:xfrm>
          <a:prstGeom prst="roundRect">
            <a:avLst>
              <a:gd name="adj" fmla="val 41666"/>
            </a:avLst>
          </a:prstGeom>
          <a:solidFill>
            <a:srgbClr val="7627BB"/>
          </a:solidFill>
          <a:ln>
            <a:noFill/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34" name="Pill 334"/>
          <p:cNvSpPr/>
          <p:nvPr/>
        </p:nvSpPr>
        <p:spPr>
          <a:xfrm>
            <a:off x="5212080" y="3017520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Release Agent</a:t>
            </a:r>
            <a:endParaRPr lang="en-GB" sz="900" dirty="0">
              <a:latin typeface="Google Sans Flex"/>
            </a:endParaRPr>
          </a:p>
        </p:txBody>
      </p:sp>
      <p:sp>
        <p:nvSpPr>
          <p:cNvPr id="335" name="Person 335"/>
          <p:cNvSpPr/>
          <p:nvPr/>
        </p:nvSpPr>
        <p:spPr>
          <a:xfrm>
            <a:off x="5705856" y="3218688"/>
            <a:ext cx="109728" cy="201168"/>
          </a:xfrm>
          <a:prstGeom prst="roundRect">
            <a:avLst>
              <a:gd name="adj" fmla="val 41666"/>
            </a:avLst>
          </a:prstGeom>
          <a:solidFill>
            <a:srgbClr val="7627BB"/>
          </a:solidFill>
          <a:ln>
            <a:noFill/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36" name="Pill 336"/>
          <p:cNvSpPr/>
          <p:nvPr/>
        </p:nvSpPr>
        <p:spPr>
          <a:xfrm>
            <a:off x="4754880" y="2011680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Guest</a:t>
            </a:r>
            <a:endParaRPr lang="en-GB" sz="900" dirty="0">
              <a:latin typeface="Google Sans Flex"/>
            </a:endParaRPr>
          </a:p>
        </p:txBody>
      </p:sp>
      <p:sp>
        <p:nvSpPr>
          <p:cNvPr id="337" name="Person 337"/>
          <p:cNvSpPr/>
          <p:nvPr/>
        </p:nvSpPr>
        <p:spPr>
          <a:xfrm>
            <a:off x="5065776" y="2212848"/>
            <a:ext cx="109728" cy="201168"/>
          </a:xfrm>
          <a:prstGeom prst="roundRect">
            <a:avLst>
              <a:gd name="adj" fmla="val 41666"/>
            </a:avLst>
          </a:prstGeom>
          <a:solidFill>
            <a:srgbClr val="1A73E8"/>
          </a:solidFill>
          <a:ln>
            <a:noFill/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38" name="Text 338"/>
          <p:cNvSpPr txBox="1"/>
          <p:nvPr/>
        </p:nvSpPr>
        <p:spPr>
          <a:xfrm>
            <a:off x="3977640" y="423367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Colleagues walk to the room they work in</a:t>
            </a:r>
            <a:endParaRPr lang="en-GB" sz="900" dirty="0">
              <a:latin typeface="Google Sans Flex"/>
            </a:endParaRPr>
          </a:p>
        </p:txBody>
      </p:sp>
      <p:sp>
        <p:nvSpPr>
          <p:cNvPr id="339" name="Chat 339"/>
          <p:cNvSpPr/>
          <p:nvPr/>
        </p:nvSpPr>
        <p:spPr>
          <a:xfrm>
            <a:off x="6446520" y="1554480"/>
            <a:ext cx="2286000" cy="2971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40" name="Text 340"/>
          <p:cNvSpPr txBox="1"/>
          <p:nvPr/>
        </p:nvSpPr>
        <p:spPr>
          <a:xfrm>
            <a:off x="6510528" y="1591056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Lobby</a:t>
            </a:r>
            <a:endParaRPr lang="en-GB" sz="1000" dirty="0">
              <a:latin typeface="Google Sans Flex"/>
            </a:endParaRPr>
          </a:p>
        </p:txBody>
      </p:sp>
      <p:sp>
        <p:nvSpPr>
          <p:cNvPr id="341" name="Card 341"/>
          <p:cNvSpPr/>
          <p:nvPr/>
        </p:nvSpPr>
        <p:spPr>
          <a:xfrm>
            <a:off x="6528816" y="1865376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3E8FD"/>
          </a:solidFill>
          <a:ln>
            <a:noFill/>
          </a:ln>
        </p:spPr>
        <p:txBody>
          <a:bodyPr wrap="square" lIns="73152" tIns="45720" rIns="54864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Add a status filter to the orders list.</a:t>
            </a:r>
            <a:endParaRPr lang="en-GB" sz="9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file: OrderList.tsx</a:t>
            </a:r>
            <a:endParaRPr lang="en-GB" sz="900" dirty="0">
              <a:latin typeface="Google Sans Flex"/>
            </a:endParaRPr>
          </a:p>
        </p:txBody>
      </p:sp>
      <p:sp>
        <p:nvSpPr>
          <p:cNvPr id="342" name="Card 342"/>
          <p:cNvSpPr/>
          <p:nvPr/>
        </p:nvSpPr>
        <p:spPr>
          <a:xfrm>
            <a:off x="6528816" y="2670048"/>
            <a:ext cx="210312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7627BB"/>
            </a:solidFill>
          </a:ln>
        </p:spPr>
        <p:txBody>
          <a:bodyPr wrap="square" lIns="73152" tIns="54864" rIns="54864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Proposal: review the change set</a:t>
            </a:r>
            <a:endParaRPr lang="en-GB" sz="900" dirty="0">
              <a:latin typeface="Google Sans Flex"/>
            </a:endParaRPr>
          </a:p>
          <a:p>
            <a:pPr marL="18288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change set v1: Add status filter</a:t>
            </a:r>
            <a:endParaRPr lang="en-GB" sz="900" dirty="0">
              <a:latin typeface="Google Sans Flex"/>
            </a:endParaRPr>
          </a:p>
        </p:txBody>
      </p:sp>
      <p:sp>
        <p:nvSpPr>
          <p:cNvPr id="343" name="Checkbox 343"/>
          <p:cNvSpPr/>
          <p:nvPr/>
        </p:nvSpPr>
        <p:spPr>
          <a:xfrm>
            <a:off x="6620256" y="29260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 w="9525">
            <a:solidFill>
              <a:srgbClr val="1A73E8"/>
            </a:solidFill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44" name="Pill 344"/>
          <p:cNvSpPr/>
          <p:nvPr/>
        </p:nvSpPr>
        <p:spPr>
          <a:xfrm>
            <a:off x="6620256" y="352044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Accept 1 item</a:t>
            </a:r>
            <a:endParaRPr lang="en-GB" sz="900" dirty="0">
              <a:latin typeface="Google Sans Flex"/>
            </a:endParaRPr>
          </a:p>
        </p:txBody>
      </p:sp>
      <p:sp>
        <p:nvSpPr>
          <p:cNvPr id="345" name="Pill 345"/>
          <p:cNvSpPr/>
          <p:nvPr/>
        </p:nvSpPr>
        <p:spPr>
          <a:xfrm>
            <a:off x="7589520" y="352044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>
            <a:noFill/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Dismiss</a:t>
            </a:r>
            <a:endParaRPr lang="en-GB" sz="900" dirty="0">
              <a:latin typeface="Google Sans Flex"/>
            </a:endParaRPr>
          </a:p>
        </p:txBody>
      </p:sp>
      <p:sp>
        <p:nvSpPr>
          <p:cNvPr id="346" name="Callout 346"/>
          <p:cNvSpPr/>
          <p:nvPr/>
        </p:nvSpPr>
        <p:spPr>
          <a:xfrm>
            <a:off x="347472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txBody>
          <a:bodyPr wrap="square" lIns="0" tIns="0" rIns="0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  <a:endParaRPr lang="en-GB" sz="900" dirty="0">
              <a:latin typeface="Google Sans Flex"/>
            </a:endParaRPr>
          </a:p>
        </p:txBody>
      </p:sp>
      <p:sp>
        <p:nvSpPr>
          <p:cNvPr id="347" name="Callout 347"/>
          <p:cNvSpPr/>
          <p:nvPr/>
        </p:nvSpPr>
        <p:spPr>
          <a:xfrm>
            <a:off x="1444752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txBody>
          <a:bodyPr wrap="square" lIns="0" tIns="0" rIns="0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  <a:endParaRPr lang="en-GB" sz="900" dirty="0">
              <a:latin typeface="Google Sans Flex"/>
            </a:endParaRPr>
          </a:p>
        </p:txBody>
      </p:sp>
      <p:sp>
        <p:nvSpPr>
          <p:cNvPr id="348" name="Callout 348"/>
          <p:cNvSpPr/>
          <p:nvPr/>
        </p:nvSpPr>
        <p:spPr>
          <a:xfrm>
            <a:off x="3867912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txBody>
          <a:bodyPr wrap="square" lIns="0" tIns="0" rIns="0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  <a:endParaRPr lang="en-GB" sz="900" dirty="0">
              <a:latin typeface="Google Sans Flex"/>
            </a:endParaRPr>
          </a:p>
        </p:txBody>
      </p:sp>
      <p:sp>
        <p:nvSpPr>
          <p:cNvPr id="349" name="Callout 349"/>
          <p:cNvSpPr/>
          <p:nvPr/>
        </p:nvSpPr>
        <p:spPr>
          <a:xfrm>
            <a:off x="6382512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txBody>
          <a:bodyPr wrap="square" lIns="0" tIns="0" rIns="0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dirty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</a:t>
            </a:r>
            <a:endParaRPr lang="en-GB" sz="900" dirty="0">
              <a:latin typeface="Google Sans Flex"/>
            </a:endParaRPr>
          </a:p>
        </p:txBody>
      </p:sp>
      <p:sp>
        <p:nvSpPr>
          <p:cNvPr id="350" name="Text 350"/>
          <p:cNvSpPr txBox="1"/>
          <p:nvPr/>
        </p:nvSpPr>
        <p:spPr>
          <a:xfrm>
            <a:off x="274320" y="4608576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The pipeline is the sidebar · </a:t>
            </a:r>
            <a:r>
              <a:rPr lang="en-GB" sz="950" b="1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One panel per stage: ask, decide, run, gate · </a:t>
            </a:r>
            <a:r>
              <a:rPr lang="en-GB" sz="950" b="1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The office, with colleagues as characters · </a:t>
            </a:r>
            <a:r>
              <a:rPr lang="en-GB" sz="950" b="1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</a:t>
            </a:r>
            <a:r>
              <a:rPr lang="en-GB" sz="95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Chat: answers and proposals</a:t>
            </a:r>
            <a:endParaRPr lang="en-GB" sz="950" dirty="0">
              <a:latin typeface="Google Sans Flex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lang="en-GB" sz="1600" dirty="0">
              <a:latin typeface="Google Sans Flex Medium"/>
            </a:endParaRPr>
          </a:p>
        </p:txBody>
      </p:sp>
      <p:sp>
        <p:nvSpPr>
          <p:cNvPr id="302" name="Pill 302"/>
          <p:cNvSpPr/>
          <p:nvPr/>
        </p:nvSpPr>
        <p:spPr>
          <a:xfrm>
            <a:off x="1965960" y="118872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</p:spPr>
        <p:txBody>
          <a:bodyPr wrap="square" lIns="36576" tIns="0" rIns="36576" bIns="0" anchor="ctr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Browser: React app, guest token</a:t>
            </a:r>
            <a:endParaRPr lang="en-GB" sz="950" dirty="0">
              <a:latin typeface="Google Sans Flex"/>
            </a:endParaRPr>
          </a:p>
        </p:txBody>
      </p:sp>
      <p:sp>
        <p:nvSpPr>
          <p:cNvPr id="303" name="Cloud Run 303"/>
          <p:cNvSpPr/>
          <p:nvPr/>
        </p:nvSpPr>
        <p:spPr>
          <a:xfrm>
            <a:off x="274320" y="1645920"/>
            <a:ext cx="5715000" cy="18288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9525">
            <a:solidFill>
              <a:srgbClr val="9AA0A6"/>
            </a:solidFill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04" name="Text 304"/>
          <p:cNvSpPr txBox="1"/>
          <p:nvPr/>
        </p:nvSpPr>
        <p:spPr>
          <a:xfrm>
            <a:off x="347472" y="165506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Cloud Run, asia-southeast1</a:t>
            </a:r>
            <a:endParaRPr lang="en-GB" sz="900" dirty="0">
              <a:latin typeface="Google Sans Flex"/>
            </a:endParaRPr>
          </a:p>
        </p:txBody>
      </p:sp>
      <p:sp>
        <p:nvSpPr>
          <p:cNvPr id="305" name="Card 305"/>
          <p:cNvSpPr/>
          <p:nvPr/>
        </p:nvSpPr>
        <p:spPr>
          <a:xfrm>
            <a:off x="457200" y="192024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EF7E0"/>
          </a:solidFill>
          <a:ln w="9525">
            <a:solidFill>
              <a:srgbClr val="B06000"/>
            </a:solidFill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studio-pipeline</a:t>
            </a:r>
            <a:endParaRPr lang="en-GB" sz="10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private, Bun + TypeScript</a:t>
            </a:r>
            <a:endParaRPr lang="en-GB" sz="9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jobs, rollouts, budgets, locks, kill switch, under its own identity</a:t>
            </a:r>
            <a:endParaRPr lang="en-GB" sz="950" dirty="0">
              <a:latin typeface="Google Sans Flex"/>
            </a:endParaRPr>
          </a:p>
        </p:txBody>
      </p:sp>
      <p:sp>
        <p:nvSpPr>
          <p:cNvPr id="306" name="Card 306"/>
          <p:cNvSpPr/>
          <p:nvPr/>
        </p:nvSpPr>
        <p:spPr>
          <a:xfrm>
            <a:off x="2331720" y="192024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 w="9525">
            <a:solidFill>
              <a:srgbClr val="1A73E8"/>
            </a:solidFill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studio-web</a:t>
            </a:r>
            <a:endParaRPr lang="en-GB" sz="10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public, one warm instance</a:t>
            </a:r>
            <a:endParaRPr lang="en-GB" sz="9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Bun: office, board, artifacts, gates, audit, guest sign-in</a:t>
            </a:r>
            <a:endParaRPr lang="en-GB" sz="950" dirty="0">
              <a:latin typeface="Google Sans Flex"/>
            </a:endParaRPr>
          </a:p>
        </p:txBody>
      </p:sp>
      <p:sp>
        <p:nvSpPr>
          <p:cNvPr id="307" name="Card 307"/>
          <p:cNvSpPr/>
          <p:nvPr/>
        </p:nvSpPr>
        <p:spPr>
          <a:xfrm>
            <a:off x="4206240" y="192024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3E8FD"/>
          </a:solidFill>
          <a:ln w="9525">
            <a:solidFill>
              <a:srgbClr val="7627BB"/>
            </a:solidFill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studio-agents</a:t>
            </a:r>
            <a:endParaRPr lang="en-GB" sz="10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private, scales to zero</a:t>
            </a:r>
            <a:endParaRPr lang="en-GB" sz="9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Python, ADK 2.x: ten colleagues, read-only tools</a:t>
            </a:r>
            <a:endParaRPr lang="en-GB" sz="950" dirty="0">
              <a:latin typeface="Google Sans Flex"/>
            </a:endParaRPr>
          </a:p>
        </p:txBody>
      </p:sp>
      <p:cxnSp>
        <p:nvCxnSpPr>
          <p:cNvPr id="308" name="Line 308"/>
          <p:cNvCxnSpPr/>
          <p:nvPr/>
        </p:nvCxnSpPr>
        <p:spPr>
          <a:xfrm>
            <a:off x="3154680" y="1499616"/>
            <a:ext cx="0" cy="420624"/>
          </a:xfrm>
          <a:prstGeom prst="line">
            <a:avLst/>
          </a:prstGeom>
          <a:ln w="19050">
            <a:solidFill>
              <a:srgbClr val="1A73E8"/>
            </a:solidFill>
            <a:tailEnd type="triangle" w="med" len="med"/>
          </a:ln>
        </p:spPr>
      </p:cxnSp>
      <p:cxnSp>
        <p:nvCxnSpPr>
          <p:cNvPr id="309" name="Line 309"/>
          <p:cNvCxnSpPr/>
          <p:nvPr/>
        </p:nvCxnSpPr>
        <p:spPr>
          <a:xfrm flipH="1">
            <a:off x="2103120" y="2286000"/>
            <a:ext cx="228600" cy="0"/>
          </a:xfrm>
          <a:prstGeom prst="line">
            <a:avLst/>
          </a:prstGeom>
          <a:ln w="19050">
            <a:solidFill>
              <a:srgbClr val="B06000"/>
            </a:solidFill>
            <a:tailEnd type="triangle" w="med" len="med"/>
          </a:ln>
        </p:spPr>
      </p:cxnSp>
      <p:cxnSp>
        <p:nvCxnSpPr>
          <p:cNvPr id="310" name="Line 310"/>
          <p:cNvCxnSpPr/>
          <p:nvPr/>
        </p:nvCxnSpPr>
        <p:spPr>
          <a:xfrm>
            <a:off x="3977640" y="2286000"/>
            <a:ext cx="228600" cy="0"/>
          </a:xfrm>
          <a:prstGeom prst="line">
            <a:avLst/>
          </a:prstGeom>
          <a:ln w="19050">
            <a:solidFill>
              <a:srgbClr val="7627BB"/>
            </a:solidFill>
            <a:tailEnd type="triangle" w="med" len="med"/>
          </a:ln>
        </p:spPr>
      </p:cxnSp>
      <p:cxnSp>
        <p:nvCxnSpPr>
          <p:cNvPr id="311" name="Line 311"/>
          <p:cNvCxnSpPr/>
          <p:nvPr/>
        </p:nvCxnSpPr>
        <p:spPr>
          <a:xfrm flipH="1">
            <a:off x="3977640" y="2926080"/>
            <a:ext cx="228600" cy="0"/>
          </a:xfrm>
          <a:prstGeom prst="line">
            <a:avLst/>
          </a:prstGeom>
          <a:ln w="19050">
            <a:solidFill>
              <a:srgbClr val="7627BB"/>
            </a:solidFill>
            <a:prstDash val="dash"/>
            <a:tailEnd type="triangle" w="med" len="med"/>
          </a:ln>
        </p:spPr>
      </p:cxnSp>
      <p:sp>
        <p:nvSpPr>
          <p:cNvPr id="312" name="Card 312"/>
          <p:cNvSpPr/>
          <p:nvPr/>
        </p:nvSpPr>
        <p:spPr>
          <a:xfrm>
            <a:off x="6172200" y="11887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9525">
            <a:solidFill>
              <a:srgbClr val="188038"/>
            </a:solidFill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</a:t>
            </a:r>
            <a:endParaRPr lang="en-GB" sz="10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 the Agent Platform</a:t>
            </a:r>
            <a:endParaRPr lang="en-GB" sz="9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3.8 Flash writes, 3.5 Flash-Lite routes, 3.1 Pro drafts code; embeddings 768-d</a:t>
            </a:r>
            <a:endParaRPr lang="en-GB" sz="900" dirty="0">
              <a:latin typeface="Google Sans Flex"/>
            </a:endParaRPr>
          </a:p>
        </p:txBody>
      </p:sp>
      <p:sp>
        <p:nvSpPr>
          <p:cNvPr id="313" name="Card 313"/>
          <p:cNvSpPr/>
          <p:nvPr/>
        </p:nvSpPr>
        <p:spPr>
          <a:xfrm>
            <a:off x="6172200" y="2194560"/>
            <a:ext cx="2697480" cy="640080"/>
          </a:xfrm>
          <a:prstGeom prst="roundRect">
            <a:avLst>
              <a:gd name="adj" fmla="val 11428"/>
            </a:avLst>
          </a:prstGeom>
          <a:solidFill>
            <a:srgbClr val="FEF7E0"/>
          </a:solidFill>
          <a:ln w="9525">
            <a:solidFill>
              <a:srgbClr val="B06000"/>
            </a:solidFill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0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</a:t>
            </a:r>
            <a:endParaRPr lang="en-GB" sz="10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knowledge vectors; pipeline state (named database)</a:t>
            </a:r>
            <a:endParaRPr lang="en-GB" sz="900" dirty="0">
              <a:latin typeface="Google Sans Flex"/>
            </a:endParaRPr>
          </a:p>
        </p:txBody>
      </p:sp>
      <p:sp>
        <p:nvSpPr>
          <p:cNvPr id="314" name="Card 314"/>
          <p:cNvSpPr/>
          <p:nvPr/>
        </p:nvSpPr>
        <p:spPr>
          <a:xfrm>
            <a:off x="6172200" y="2926080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Secret Manager · Cloud Scheduler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guest key, nightly reset</a:t>
            </a:r>
            <a:endParaRPr lang="en-GB" sz="900" dirty="0">
              <a:latin typeface="Google Sans Flex"/>
            </a:endParaRPr>
          </a:p>
        </p:txBody>
      </p:sp>
      <p:cxnSp>
        <p:nvCxnSpPr>
          <p:cNvPr id="315" name="Line 315"/>
          <p:cNvCxnSpPr/>
          <p:nvPr/>
        </p:nvCxnSpPr>
        <p:spPr>
          <a:xfrm flipV="1">
            <a:off x="5852160" y="1645920"/>
            <a:ext cx="320040" cy="594360"/>
          </a:xfrm>
          <a:prstGeom prst="line">
            <a:avLst/>
          </a:prstGeom>
          <a:ln w="19050">
            <a:solidFill>
              <a:srgbClr val="188038"/>
            </a:solidFill>
            <a:tailEnd type="triangle" w="med" len="med"/>
          </a:ln>
        </p:spPr>
      </p:cxnSp>
      <p:cxnSp>
        <p:nvCxnSpPr>
          <p:cNvPr id="316" name="Line 316"/>
          <p:cNvCxnSpPr/>
          <p:nvPr/>
        </p:nvCxnSpPr>
        <p:spPr>
          <a:xfrm flipV="1">
            <a:off x="5852160" y="2514600"/>
            <a:ext cx="320040" cy="45720"/>
          </a:xfrm>
          <a:prstGeom prst="line">
            <a:avLst/>
          </a:prstGeom>
          <a:ln w="19050">
            <a:solidFill>
              <a:srgbClr val="B06000"/>
            </a:solidFill>
            <a:tailEnd type="triangle" w="med" len="med"/>
          </a:ln>
        </p:spPr>
      </p:cxnSp>
      <p:sp>
        <p:nvSpPr>
          <p:cNvPr id="317" name="Card 317"/>
          <p:cNvSpPr/>
          <p:nvPr/>
        </p:nvSpPr>
        <p:spPr>
          <a:xfrm>
            <a:off x="274320" y="3703320"/>
            <a:ext cx="1645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45720" rIns="45720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Build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builds and tests, network off</a:t>
            </a:r>
            <a:endParaRPr lang="en-GB" sz="900" dirty="0">
              <a:latin typeface="Google Sans Flex"/>
            </a:endParaRPr>
          </a:p>
        </p:txBody>
      </p:sp>
      <p:sp>
        <p:nvSpPr>
          <p:cNvPr id="318" name="Card 318"/>
          <p:cNvSpPr/>
          <p:nvPr/>
        </p:nvSpPr>
        <p:spPr>
          <a:xfrm>
            <a:off x="2011680" y="3703320"/>
            <a:ext cx="1645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45720" rIns="45720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Storage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job sources, reports, trunk</a:t>
            </a:r>
            <a:endParaRPr lang="en-GB" sz="900" dirty="0">
              <a:latin typeface="Google Sans Flex"/>
            </a:endParaRPr>
          </a:p>
        </p:txBody>
      </p:sp>
      <p:sp>
        <p:nvSpPr>
          <p:cNvPr id="319" name="Card 319"/>
          <p:cNvSpPr/>
          <p:nvPr/>
        </p:nvSpPr>
        <p:spPr>
          <a:xfrm>
            <a:off x="3749040" y="3703320"/>
            <a:ext cx="1645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45720" rIns="45720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Artifact Registry + Analysis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release images, vulnerability scan</a:t>
            </a:r>
            <a:endParaRPr lang="en-GB" sz="900" dirty="0">
              <a:latin typeface="Google Sans Flex"/>
            </a:endParaRPr>
          </a:p>
        </p:txBody>
      </p:sp>
      <p:sp>
        <p:nvSpPr>
          <p:cNvPr id="320" name="Card 320"/>
          <p:cNvSpPr/>
          <p:nvPr/>
        </p:nvSpPr>
        <p:spPr>
          <a:xfrm>
            <a:off x="5486400" y="3703320"/>
            <a:ext cx="1645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45720" rIns="45720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Pub/Sub + Billing budget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build events, kill switch at 80%</a:t>
            </a:r>
            <a:endParaRPr lang="en-GB" sz="900" dirty="0">
              <a:latin typeface="Google Sans Flex"/>
            </a:endParaRPr>
          </a:p>
        </p:txBody>
      </p:sp>
      <p:sp>
        <p:nvSpPr>
          <p:cNvPr id="321" name="Card 321"/>
          <p:cNvSpPr/>
          <p:nvPr/>
        </p:nvSpPr>
        <p:spPr>
          <a:xfrm>
            <a:off x="7223760" y="3703320"/>
            <a:ext cx="1645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73152" tIns="45720" rIns="45720" bIns="36576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Sample app on Cloud Run</a:t>
            </a:r>
            <a:endParaRPr lang="en-GB" sz="95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staging, then production 10/50/100</a:t>
            </a:r>
            <a:endParaRPr lang="en-GB" sz="900" dirty="0">
              <a:latin typeface="Google Sans Flex"/>
            </a:endParaRPr>
          </a:p>
        </p:txBody>
      </p:sp>
      <p:cxnSp>
        <p:nvCxnSpPr>
          <p:cNvPr id="322" name="Line 322"/>
          <p:cNvCxnSpPr/>
          <p:nvPr/>
        </p:nvCxnSpPr>
        <p:spPr>
          <a:xfrm>
            <a:off x="1280160" y="3337560"/>
            <a:ext cx="0" cy="365760"/>
          </a:xfrm>
          <a:prstGeom prst="line">
            <a:avLst/>
          </a:prstGeom>
          <a:ln w="15875">
            <a:solidFill>
              <a:srgbClr val="B06000"/>
            </a:solidFill>
            <a:prstDash val="dash"/>
            <a:tailEnd type="triangle" w="med" len="med"/>
          </a:ln>
        </p:spPr>
      </p:cxnSp>
      <p:cxnSp>
        <p:nvCxnSpPr>
          <p:cNvPr id="323" name="Line 323"/>
          <p:cNvCxnSpPr/>
          <p:nvPr/>
        </p:nvCxnSpPr>
        <p:spPr>
          <a:xfrm>
            <a:off x="1280160" y="3520440"/>
            <a:ext cx="7040880" cy="0"/>
          </a:xfrm>
          <a:prstGeom prst="line">
            <a:avLst/>
          </a:prstGeom>
          <a:ln w="15875">
            <a:solidFill>
              <a:srgbClr val="B06000"/>
            </a:solidFill>
            <a:prstDash val="dash"/>
          </a:ln>
        </p:spPr>
      </p:cxnSp>
      <p:cxnSp>
        <p:nvCxnSpPr>
          <p:cNvPr id="324" name="Line 324"/>
          <p:cNvCxnSpPr/>
          <p:nvPr/>
        </p:nvCxnSpPr>
        <p:spPr>
          <a:xfrm>
            <a:off x="2834640" y="3520440"/>
            <a:ext cx="0" cy="182880"/>
          </a:xfrm>
          <a:prstGeom prst="line">
            <a:avLst/>
          </a:prstGeom>
          <a:ln w="15875">
            <a:solidFill>
              <a:srgbClr val="B06000"/>
            </a:solidFill>
            <a:prstDash val="dash"/>
            <a:tailEnd type="triangle" w="med" len="med"/>
          </a:ln>
        </p:spPr>
      </p:cxnSp>
      <p:cxnSp>
        <p:nvCxnSpPr>
          <p:cNvPr id="325" name="Line 325"/>
          <p:cNvCxnSpPr/>
          <p:nvPr/>
        </p:nvCxnSpPr>
        <p:spPr>
          <a:xfrm>
            <a:off x="4572000" y="3520440"/>
            <a:ext cx="0" cy="182880"/>
          </a:xfrm>
          <a:prstGeom prst="line">
            <a:avLst/>
          </a:prstGeom>
          <a:ln w="15875">
            <a:solidFill>
              <a:srgbClr val="B06000"/>
            </a:solidFill>
            <a:prstDash val="dash"/>
            <a:tailEnd type="triangle" w="med" len="med"/>
          </a:ln>
        </p:spPr>
      </p:cxnSp>
      <p:cxnSp>
        <p:nvCxnSpPr>
          <p:cNvPr id="326" name="Line 326"/>
          <p:cNvCxnSpPr/>
          <p:nvPr/>
        </p:nvCxnSpPr>
        <p:spPr>
          <a:xfrm>
            <a:off x="6309360" y="3520440"/>
            <a:ext cx="0" cy="182880"/>
          </a:xfrm>
          <a:prstGeom prst="line">
            <a:avLst/>
          </a:prstGeom>
          <a:ln w="15875">
            <a:solidFill>
              <a:srgbClr val="B06000"/>
            </a:solidFill>
            <a:prstDash val="dash"/>
            <a:tailEnd type="triangle" w="med" len="med"/>
          </a:ln>
        </p:spPr>
      </p:cxnSp>
      <p:cxnSp>
        <p:nvCxnSpPr>
          <p:cNvPr id="327" name="Line 327"/>
          <p:cNvCxnSpPr/>
          <p:nvPr/>
        </p:nvCxnSpPr>
        <p:spPr>
          <a:xfrm>
            <a:off x="8046720" y="3520440"/>
            <a:ext cx="0" cy="182880"/>
          </a:xfrm>
          <a:prstGeom prst="line">
            <a:avLst/>
          </a:prstGeom>
          <a:ln w="15875">
            <a:solidFill>
              <a:srgbClr val="B06000"/>
            </a:solidFill>
            <a:prstDash val="dash"/>
            <a:tailEnd type="triangle" w="med" len="med"/>
          </a:ln>
        </p:spPr>
      </p:cxnSp>
      <p:sp>
        <p:nvSpPr>
          <p:cNvPr id="328" name="Text 328"/>
          <p:cNvSpPr txBox="1"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Only studio-pipeline can build or deploy, with the least rights it needs. Service to service: Google-signed ID tokens, audience pinned. Agents only read, through /internal/v1. No API key anywhere.</a:t>
            </a:r>
            <a:endParaRPr lang="en-GB" sz="900" dirty="0">
              <a:latin typeface="Google Sans Flex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lang="en-GB" sz="1600" dirty="0">
              <a:latin typeface="Google Sans Flex Medium"/>
            </a:endParaRPr>
          </a:p>
        </p:txBody>
      </p:sp>
      <p:sp>
        <p:nvSpPr>
          <p:cNvPr id="302" name="Card 302"/>
          <p:cNvSpPr/>
          <p:nvPr/>
        </p:nvSpPr>
        <p:spPr>
          <a:xfrm>
            <a:off x="274320" y="1207008"/>
            <a:ext cx="4206240" cy="3703320"/>
          </a:xfrm>
          <a:prstGeom prst="roundRect">
            <a:avLst>
              <a:gd name="adj" fmla="val 2469"/>
            </a:avLst>
          </a:prstGeom>
          <a:solidFill>
            <a:srgbClr val="E8F0FE"/>
          </a:solidFill>
          <a:ln>
            <a:noFill/>
          </a:ln>
        </p:spPr>
        <p:txBody>
          <a:bodyPr wrap="square" lIns="146304" tIns="109728" rIns="128016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3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Cloud</a:t>
            </a:r>
            <a:endParaRPr lang="en-GB" sz="13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on the Gemini Enterprise Agent Platform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writing, tools, code, judging, embeddings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 Development Kit (ADK) 2.x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graph workflows with structured output and tools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Run: three services and the sample app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web, agents, pipeline; staging and production revisions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Build, Cloud Storage, Artifact Registry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hermetic builds and tests, sources, release images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Artifact Analysis (Container Analysis)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vulnerability scan that gates the release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Firestore, Pub/Sub, Billing budgets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vector search and state; build events; kill switch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Secret Manager, IAM, ID tokens, Cloud Scheduler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service identities, no keys, nightly reset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Trace and Cloud Logging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ADK OpenTelemetry traces, job logs</a:t>
            </a:r>
            <a:endParaRPr lang="en-GB" sz="1000" dirty="0">
              <a:latin typeface="Google Sans Flex"/>
            </a:endParaRPr>
          </a:p>
        </p:txBody>
      </p:sp>
      <p:sp>
        <p:nvSpPr>
          <p:cNvPr id="303" name="Card 303"/>
          <p:cNvSpPr/>
          <p:nvPr/>
        </p:nvSpPr>
        <p:spPr>
          <a:xfrm>
            <a:off x="4663440" y="1207008"/>
            <a:ext cx="4206240" cy="3703320"/>
          </a:xfrm>
          <a:prstGeom prst="roundRect">
            <a:avLst>
              <a:gd name="adj" fmla="val 2469"/>
            </a:avLst>
          </a:prstGeom>
          <a:solidFill>
            <a:srgbClr val="E6F4EA"/>
          </a:solidFill>
          <a:ln>
            <a:noFill/>
          </a:ln>
        </p:spPr>
        <p:txBody>
          <a:bodyPr wrap="square" lIns="146304" tIns="109728" rIns="128016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3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Application</a:t>
            </a:r>
            <a:endParaRPr lang="en-GB" sz="13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React 19, HeroUI, Tailwind, Vite, PixiJS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every screen and the pixel office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Bun, Hono, WebSocket; TypeScript throughout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web and pipeline services, one shared contract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Python, FastAPI, server-sent events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agent service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Vitest, Playwright, node:test, bun:test, pytest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322 app, 205 web-service, 42 agent and 10 pipeline-service tests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000"/>
              <a:buFont typeface="Arial"/>
              <a:buChar char="•"/>
            </a:pPr>
            <a:r>
              <a:rPr lang="en-GB" sz="10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Deny-scan, path allowlist, sandboxed iframe</a:t>
            </a: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· AI-written code and pages are untrusted</a:t>
            </a:r>
            <a:endParaRPr lang="en-GB" sz="1000" dirty="0">
              <a:latin typeface="Google Sans Flex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lang="en-GB" sz="1600" dirty="0">
              <a:latin typeface="Google Sans Flex Medium"/>
            </a:endParaRPr>
          </a:p>
        </p:txBody>
      </p:sp>
      <p:sp>
        <p:nvSpPr>
          <p:cNvPr id="302" name="Card 302"/>
          <p:cNvSpPr/>
          <p:nvPr/>
        </p:nvSpPr>
        <p:spPr>
          <a:xfrm>
            <a:off x="274320" y="1207008"/>
            <a:ext cx="5257800" cy="3703320"/>
          </a:xfrm>
          <a:prstGeom prst="roundRect">
            <a:avLst>
              <a:gd name="adj" fmla="val 2469"/>
            </a:avLst>
          </a:prstGeom>
          <a:solidFill>
            <a:srgbClr val="F1F3F4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endParaRPr lang="en-GB" sz="1000"/>
          </a:p>
        </p:txBody>
      </p:sp>
      <p:sp>
        <p:nvSpPr>
          <p:cNvPr id="303" name="Text 303"/>
          <p:cNvSpPr txBox="1"/>
          <p:nvPr/>
        </p:nvSpPr>
        <p:spPr>
          <a:xfrm>
            <a:off x="411480" y="126187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45720" rIns="73152" bIns="4572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Roughly US$0.10 to 0.30 per ticket, start to finish</a:t>
            </a:r>
            <a:endParaRPr lang="en-GB" sz="1600" dirty="0">
              <a:latin typeface="Google Sans Flex"/>
            </a:endParaRPr>
          </a:p>
        </p:txBody>
      </p:sp>
      <p:cxnSp>
        <p:nvCxnSpPr>
          <p:cNvPr id="304" name="Line 304"/>
          <p:cNvCxnSpPr/>
          <p:nvPr/>
        </p:nvCxnSpPr>
        <p:spPr>
          <a:xfrm>
            <a:off x="411480" y="1783080"/>
            <a:ext cx="4983480" cy="0"/>
          </a:xfrm>
          <a:prstGeom prst="line">
            <a:avLst/>
          </a:prstGeom>
          <a:ln w="9525">
            <a:solidFill>
              <a:srgbClr val="DADCE0"/>
            </a:solidFill>
          </a:ln>
        </p:spPr>
      </p:cxnSp>
      <p:sp>
        <p:nvSpPr>
          <p:cNvPr id="305" name="Text 305"/>
          <p:cNvSpPr txBox="1"/>
          <p:nvPr/>
        </p:nvSpPr>
        <p:spPr>
          <a:xfrm>
            <a:off x="411480" y="1801368"/>
            <a:ext cx="3246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45720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agent run (about 19,000 tokens, measured)</a:t>
            </a:r>
            <a:endParaRPr lang="en-GB" sz="950" dirty="0">
              <a:latin typeface="Google Sans Flex"/>
            </a:endParaRPr>
          </a:p>
        </p:txBody>
      </p:sp>
      <p:sp>
        <p:nvSpPr>
          <p:cNvPr id="306" name="Text 306"/>
          <p:cNvSpPr txBox="1"/>
          <p:nvPr/>
        </p:nvSpPr>
        <p:spPr>
          <a:xfrm>
            <a:off x="3657600" y="180136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US$0.01 to 0.02</a:t>
            </a:r>
            <a:endParaRPr lang="en-GB" sz="950" dirty="0">
              <a:latin typeface="Google Sans Flex"/>
            </a:endParaRPr>
          </a:p>
        </p:txBody>
      </p:sp>
      <p:cxnSp>
        <p:nvCxnSpPr>
          <p:cNvPr id="307" name="Line 307"/>
          <p:cNvCxnSpPr/>
          <p:nvPr/>
        </p:nvCxnSpPr>
        <p:spPr>
          <a:xfrm>
            <a:off x="411480" y="2295144"/>
            <a:ext cx="4983480" cy="0"/>
          </a:xfrm>
          <a:prstGeom prst="line">
            <a:avLst/>
          </a:prstGeom>
          <a:ln w="9525">
            <a:solidFill>
              <a:srgbClr val="DADCE0"/>
            </a:solidFill>
          </a:ln>
        </p:spPr>
      </p:cxnSp>
      <p:sp>
        <p:nvSpPr>
          <p:cNvPr id="308" name="Text 308"/>
          <p:cNvSpPr txBox="1"/>
          <p:nvPr/>
        </p:nvSpPr>
        <p:spPr>
          <a:xfrm>
            <a:off x="411480" y="2313432"/>
            <a:ext cx="3246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45720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ticket: about six agent runs</a:t>
            </a:r>
            <a:endParaRPr lang="en-GB" sz="950" dirty="0">
              <a:latin typeface="Google Sans Flex"/>
            </a:endParaRPr>
          </a:p>
        </p:txBody>
      </p:sp>
      <p:sp>
        <p:nvSpPr>
          <p:cNvPr id="309" name="Text 309"/>
          <p:cNvSpPr txBox="1"/>
          <p:nvPr/>
        </p:nvSpPr>
        <p:spPr>
          <a:xfrm>
            <a:off x="3657600" y="231343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US$0.06 to 0.12</a:t>
            </a:r>
            <a:endParaRPr lang="en-GB" sz="950" dirty="0">
              <a:latin typeface="Google Sans Flex"/>
            </a:endParaRPr>
          </a:p>
        </p:txBody>
      </p:sp>
      <p:cxnSp>
        <p:nvCxnSpPr>
          <p:cNvPr id="310" name="Line 310"/>
          <p:cNvCxnSpPr/>
          <p:nvPr/>
        </p:nvCxnSpPr>
        <p:spPr>
          <a:xfrm>
            <a:off x="411480" y="2807208"/>
            <a:ext cx="4983480" cy="0"/>
          </a:xfrm>
          <a:prstGeom prst="line">
            <a:avLst/>
          </a:prstGeom>
          <a:ln w="9525">
            <a:solidFill>
              <a:srgbClr val="DADCE0"/>
            </a:solidFill>
          </a:ln>
        </p:spPr>
      </p:cxnSp>
      <p:sp>
        <p:nvSpPr>
          <p:cNvPr id="311" name="Text 311"/>
          <p:cNvSpPr txBox="1"/>
          <p:nvPr/>
        </p:nvSpPr>
        <p:spPr>
          <a:xfrm>
            <a:off x="411480" y="2825496"/>
            <a:ext cx="3246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45720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Build, about 12 minutes of builds per ticket (measured)</a:t>
            </a:r>
            <a:endParaRPr lang="en-GB" sz="950" dirty="0">
              <a:latin typeface="Google Sans Flex"/>
            </a:endParaRPr>
          </a:p>
        </p:txBody>
      </p:sp>
      <p:sp>
        <p:nvSpPr>
          <p:cNvPr id="312" name="Text 312"/>
          <p:cNvSpPr txBox="1"/>
          <p:nvPr/>
        </p:nvSpPr>
        <p:spPr>
          <a:xfrm>
            <a:off x="3657600" y="2825496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few cents</a:t>
            </a:r>
            <a:endParaRPr lang="en-GB" sz="950" dirty="0">
              <a:latin typeface="Google Sans Flex"/>
            </a:endParaRPr>
          </a:p>
        </p:txBody>
      </p:sp>
      <p:cxnSp>
        <p:nvCxnSpPr>
          <p:cNvPr id="313" name="Line 313"/>
          <p:cNvCxnSpPr/>
          <p:nvPr/>
        </p:nvCxnSpPr>
        <p:spPr>
          <a:xfrm>
            <a:off x="411480" y="3319272"/>
            <a:ext cx="4983480" cy="0"/>
          </a:xfrm>
          <a:prstGeom prst="line">
            <a:avLst/>
          </a:prstGeom>
          <a:ln w="9525">
            <a:solidFill>
              <a:srgbClr val="DADCE0"/>
            </a:solidFill>
          </a:ln>
        </p:spPr>
      </p:cxnSp>
      <p:sp>
        <p:nvSpPr>
          <p:cNvPr id="314" name="Text 314"/>
          <p:cNvSpPr txBox="1"/>
          <p:nvPr/>
        </p:nvSpPr>
        <p:spPr>
          <a:xfrm>
            <a:off x="411480" y="3337560"/>
            <a:ext cx="3246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45720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ceiling: 30 jobs a day, 15 rollouts, 6 scans</a:t>
            </a:r>
            <a:endParaRPr lang="en-GB" sz="950" dirty="0">
              <a:latin typeface="Google Sans Flex"/>
            </a:endParaRPr>
          </a:p>
        </p:txBody>
      </p:sp>
      <p:sp>
        <p:nvSpPr>
          <p:cNvPr id="315" name="Text 315"/>
          <p:cNvSpPr txBox="1"/>
          <p:nvPr/>
        </p:nvSpPr>
        <p:spPr>
          <a:xfrm>
            <a:off x="3657600" y="333756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capped in code</a:t>
            </a:r>
            <a:endParaRPr lang="en-GB" sz="950" dirty="0">
              <a:latin typeface="Google Sans Flex"/>
            </a:endParaRPr>
          </a:p>
        </p:txBody>
      </p:sp>
      <p:cxnSp>
        <p:nvCxnSpPr>
          <p:cNvPr id="316" name="Line 316"/>
          <p:cNvCxnSpPr/>
          <p:nvPr/>
        </p:nvCxnSpPr>
        <p:spPr>
          <a:xfrm>
            <a:off x="411480" y="3831336"/>
            <a:ext cx="4983480" cy="0"/>
          </a:xfrm>
          <a:prstGeom prst="line">
            <a:avLst/>
          </a:prstGeom>
          <a:ln w="9525">
            <a:solidFill>
              <a:srgbClr val="DADCE0"/>
            </a:solidFill>
          </a:ln>
        </p:spPr>
      </p:cxnSp>
      <p:sp>
        <p:nvSpPr>
          <p:cNvPr id="317" name="Text 317"/>
          <p:cNvSpPr txBox="1"/>
          <p:nvPr/>
        </p:nvSpPr>
        <p:spPr>
          <a:xfrm>
            <a:off x="411480" y="3849624"/>
            <a:ext cx="3246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45720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Idle: one warm web instance; pipeline and agents at zero</a:t>
            </a:r>
            <a:endParaRPr lang="en-GB" sz="950" dirty="0">
              <a:latin typeface="Google Sans Flex"/>
            </a:endParaRPr>
          </a:p>
        </p:txBody>
      </p:sp>
      <p:sp>
        <p:nvSpPr>
          <p:cNvPr id="318" name="Text 318"/>
          <p:cNvSpPr txBox="1"/>
          <p:nvPr/>
        </p:nvSpPr>
        <p:spPr>
          <a:xfrm>
            <a:off x="3657600" y="384962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US$10 to 15 a month</a:t>
            </a:r>
            <a:endParaRPr lang="en-GB" sz="950" dirty="0">
              <a:latin typeface="Google Sans Flex"/>
            </a:endParaRPr>
          </a:p>
        </p:txBody>
      </p:sp>
      <p:cxnSp>
        <p:nvCxnSpPr>
          <p:cNvPr id="319" name="Line 319"/>
          <p:cNvCxnSpPr/>
          <p:nvPr/>
        </p:nvCxnSpPr>
        <p:spPr>
          <a:xfrm>
            <a:off x="411480" y="4343400"/>
            <a:ext cx="4983480" cy="0"/>
          </a:xfrm>
          <a:prstGeom prst="line">
            <a:avLst/>
          </a:prstGeom>
          <a:ln w="9525">
            <a:solidFill>
              <a:srgbClr val="DADCE0"/>
            </a:solidFill>
          </a:ln>
        </p:spPr>
      </p:cxnSp>
      <p:sp>
        <p:nvSpPr>
          <p:cNvPr id="320" name="Text 320"/>
          <p:cNvSpPr txBox="1"/>
          <p:nvPr/>
        </p:nvSpPr>
        <p:spPr>
          <a:xfrm>
            <a:off x="411480" y="4361688"/>
            <a:ext cx="3246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45720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Firestore, Storage, Registry, Pub/Sub, Scheduler at demo volume</a:t>
            </a:r>
            <a:endParaRPr lang="en-GB" sz="950" dirty="0">
              <a:latin typeface="Google Sans Flex"/>
            </a:endParaRPr>
          </a:p>
        </p:txBody>
      </p:sp>
      <p:sp>
        <p:nvSpPr>
          <p:cNvPr id="321" name="Text 321"/>
          <p:cNvSpPr txBox="1"/>
          <p:nvPr/>
        </p:nvSpPr>
        <p:spPr>
          <a:xfrm>
            <a:off x="3657600" y="436168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under US$3 a month</a:t>
            </a:r>
            <a:endParaRPr lang="en-GB" sz="950" dirty="0">
              <a:latin typeface="Google Sans Flex"/>
            </a:endParaRPr>
          </a:p>
        </p:txBody>
      </p:sp>
      <p:sp>
        <p:nvSpPr>
          <p:cNvPr id="322" name="Card 322"/>
          <p:cNvSpPr/>
          <p:nvPr/>
        </p:nvSpPr>
        <p:spPr>
          <a:xfrm>
            <a:off x="5715000" y="1207008"/>
            <a:ext cx="3154680" cy="3703320"/>
          </a:xfrm>
          <a:prstGeom prst="roundRect">
            <a:avLst>
              <a:gd name="adj" fmla="val 2898"/>
            </a:avLst>
          </a:prstGeom>
          <a:solidFill>
            <a:srgbClr val="FEF7E0"/>
          </a:solidFill>
          <a:ln>
            <a:noFill/>
          </a:ln>
        </p:spPr>
        <p:txBody>
          <a:bodyPr wrap="square" lIns="137160" tIns="109728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How it was estimated</a:t>
            </a:r>
            <a:endParaRPr lang="en-GB" sz="12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3.8 Flash list price: US$0.75 per million input and US$3.75 per million output tokens (launch pricing); about 94% of tokens are input.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Build minutes are the ones this deck’s own run used. The price per minute depends on the machine type: check current prices.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Cost is bounded by design: a daily budget of AI runs and jobs, two jobs at once, a ten-minute timeout, and a billing alert that flips a kill switch at 80%.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These are estimates, not invoices.</a:t>
            </a:r>
            <a:endParaRPr lang="en-GB" sz="1000" dirty="0">
              <a:latin typeface="Google Sans Flex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lang="en-GB" sz="1600" dirty="0">
              <a:latin typeface="Google Sans Flex Medium"/>
            </a:endParaRPr>
          </a:p>
        </p:txBody>
      </p:sp>
      <p:pic>
        <p:nvPicPr>
          <p:cNvPr id="302" name="Picture 302" descr="The Design stage: the Designer Agent's prototype of the status filter in a sandboxed frame, with the Plan Room chat showing the proposal card.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74320" y="1280160"/>
            <a:ext cx="5074920" cy="3172054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303" name="Text 303"/>
          <p:cNvSpPr txBox="1"/>
          <p:nvPr/>
        </p:nvSpPr>
        <p:spPr>
          <a:xfrm>
            <a:off x="274320" y="4480560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Design.</a:t>
            </a: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The prototype is the Designer Agent’s own page, shown in a sandboxed frame with no scripts and no network.</a:t>
            </a:r>
            <a:endParaRPr lang="en-GB" sz="900" dirty="0">
              <a:latin typeface="Google Sans Flex"/>
            </a:endParaRPr>
          </a:p>
        </p:txBody>
      </p:sp>
      <p:pic>
        <p:nvPicPr>
          <p:cNvPr id="304" name="Picture 304" descr="The spec the Planner Agent drafted for the ticket: a story and five acceptance criteria.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532120" y="1280160"/>
            <a:ext cx="1536192" cy="344728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pic>
        <p:nvPicPr>
          <p:cNvPr id="305" name="Picture 305" descr="The Developer Agent's change set for the ticket, shown as a diff of OrderList.tsx against main.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7287768" y="1280160"/>
            <a:ext cx="1536192" cy="344728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306" name="Text 306"/>
          <p:cNvSpPr txBox="1"/>
          <p:nvPr/>
        </p:nvSpPr>
        <p:spPr>
          <a:xfrm>
            <a:off x="5532120" y="4709160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Spec to accept</a:t>
            </a:r>
            <a:endParaRPr lang="en-GB" sz="900" dirty="0">
              <a:latin typeface="Google Sans Flex"/>
            </a:endParaRPr>
          </a:p>
        </p:txBody>
      </p:sp>
      <p:sp>
        <p:nvSpPr>
          <p:cNvPr id="307" name="Text 307"/>
          <p:cNvSpPr txBox="1"/>
          <p:nvPr/>
        </p:nvSpPr>
        <p:spPr>
          <a:xfrm>
            <a:off x="7287768" y="4709160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Change set as a diff</a:t>
            </a:r>
            <a:endParaRPr lang="en-GB" sz="900" dirty="0">
              <a:latin typeface="Google Sans Flex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lang="en-GB" sz="1600" dirty="0">
              <a:latin typeface="Google Sans Flex Medium"/>
            </a:endParaRPr>
          </a:p>
        </p:txBody>
      </p:sp>
      <p:sp>
        <p:nvSpPr>
          <p:cNvPr id="302" name="Card 302"/>
          <p:cNvSpPr/>
          <p:nvPr/>
        </p:nvSpPr>
        <p:spPr>
          <a:xfrm>
            <a:off x="274320" y="1207008"/>
            <a:ext cx="4343400" cy="3703320"/>
          </a:xfrm>
          <a:prstGeom prst="roundRect">
            <a:avLst>
              <a:gd name="adj" fmla="val 2469"/>
            </a:avLst>
          </a:prstGeom>
          <a:solidFill>
            <a:srgbClr val="F1F3F4"/>
          </a:solidFill>
          <a:ln>
            <a:noFill/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ticket, start to finish, on the live site</a:t>
            </a:r>
            <a:endParaRPr lang="en-GB" sz="1050" dirty="0">
              <a:latin typeface="Google Sans Flex"/>
            </a:endParaRPr>
          </a:p>
        </p:txBody>
      </p:sp>
      <p:sp>
        <p:nvSpPr>
          <p:cNvPr id="303" name="Text 303"/>
          <p:cNvSpPr txBox="1"/>
          <p:nvPr/>
        </p:nvSpPr>
        <p:spPr>
          <a:xfrm>
            <a:off x="384048" y="157276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Spec drafted by the Planner Agent</a:t>
            </a:r>
            <a:endParaRPr lang="en-GB" sz="919" dirty="0">
              <a:latin typeface="Google Sans Flex"/>
            </a:endParaRPr>
          </a:p>
        </p:txBody>
      </p:sp>
      <p:sp>
        <p:nvSpPr>
          <p:cNvPr id="304" name="Text 304"/>
          <p:cNvSpPr txBox="1"/>
          <p:nvPr/>
        </p:nvSpPr>
        <p:spPr>
          <a:xfrm>
            <a:off x="2834640" y="157276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20 to 38 s</a:t>
            </a:r>
            <a:endParaRPr lang="en-GB" sz="919" dirty="0">
              <a:latin typeface="Google Sans Flex"/>
            </a:endParaRPr>
          </a:p>
        </p:txBody>
      </p:sp>
      <p:sp>
        <p:nvSpPr>
          <p:cNvPr id="305" name="Text 305"/>
          <p:cNvSpPr txBox="1"/>
          <p:nvPr/>
        </p:nvSpPr>
        <p:spPr>
          <a:xfrm>
            <a:off x="384048" y="189280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Design drafted by the Designer Agent</a:t>
            </a:r>
            <a:endParaRPr lang="en-GB" sz="919" dirty="0">
              <a:latin typeface="Google Sans Flex"/>
            </a:endParaRPr>
          </a:p>
        </p:txBody>
      </p:sp>
      <p:sp>
        <p:nvSpPr>
          <p:cNvPr id="306" name="Text 306"/>
          <p:cNvSpPr txBox="1"/>
          <p:nvPr/>
        </p:nvSpPr>
        <p:spPr>
          <a:xfrm>
            <a:off x="2834640" y="189280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33 to 38 s</a:t>
            </a:r>
            <a:endParaRPr lang="en-GB" sz="919" dirty="0">
              <a:latin typeface="Google Sans Flex"/>
            </a:endParaRPr>
          </a:p>
        </p:txBody>
      </p:sp>
      <p:sp>
        <p:nvSpPr>
          <p:cNvPr id="307" name="Text 307"/>
          <p:cNvSpPr txBox="1"/>
          <p:nvPr/>
        </p:nvSpPr>
        <p:spPr>
          <a:xfrm>
            <a:off x="384048" y="221284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Change set by the Developer Agent</a:t>
            </a:r>
            <a:endParaRPr lang="en-GB" sz="919" dirty="0">
              <a:latin typeface="Google Sans Flex"/>
            </a:endParaRPr>
          </a:p>
        </p:txBody>
      </p:sp>
      <p:sp>
        <p:nvSpPr>
          <p:cNvPr id="308" name="Text 308"/>
          <p:cNvSpPr txBox="1"/>
          <p:nvPr/>
        </p:nvSpPr>
        <p:spPr>
          <a:xfrm>
            <a:off x="2834640" y="221284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53 to 86 s</a:t>
            </a:r>
            <a:endParaRPr lang="en-GB" sz="919" dirty="0">
              <a:latin typeface="Google Sans Flex"/>
            </a:endParaRPr>
          </a:p>
        </p:txBody>
      </p:sp>
      <p:sp>
        <p:nvSpPr>
          <p:cNvPr id="309" name="Text 309"/>
          <p:cNvSpPr txBox="1"/>
          <p:nvPr/>
        </p:nvSpPr>
        <p:spPr>
          <a:xfrm>
            <a:off x="384048" y="253288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Build: build of the change set</a:t>
            </a:r>
            <a:endParaRPr lang="en-GB" sz="919" dirty="0">
              <a:latin typeface="Google Sans Flex"/>
            </a:endParaRPr>
          </a:p>
        </p:txBody>
      </p:sp>
      <p:sp>
        <p:nvSpPr>
          <p:cNvPr id="310" name="Text 310"/>
          <p:cNvSpPr txBox="1"/>
          <p:nvPr/>
        </p:nvSpPr>
        <p:spPr>
          <a:xfrm>
            <a:off x="2834640" y="253288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186 to 228 s</a:t>
            </a:r>
            <a:endParaRPr lang="en-GB" sz="919" dirty="0">
              <a:latin typeface="Google Sans Flex"/>
            </a:endParaRPr>
          </a:p>
        </p:txBody>
      </p:sp>
      <p:sp>
        <p:nvSpPr>
          <p:cNvPr id="311" name="Text 311"/>
          <p:cNvSpPr txBox="1"/>
          <p:nvPr/>
        </p:nvSpPr>
        <p:spPr>
          <a:xfrm>
            <a:off x="384048" y="285292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Build: 8 unit tests, coverage</a:t>
            </a:r>
            <a:endParaRPr lang="en-GB" sz="919" dirty="0">
              <a:latin typeface="Google Sans Flex"/>
            </a:endParaRPr>
          </a:p>
        </p:txBody>
      </p:sp>
      <p:sp>
        <p:nvSpPr>
          <p:cNvPr id="312" name="Text 312"/>
          <p:cNvSpPr txBox="1"/>
          <p:nvPr/>
        </p:nvSpPr>
        <p:spPr>
          <a:xfrm>
            <a:off x="2834640" y="285292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132 to 156 s, 100%</a:t>
            </a:r>
            <a:endParaRPr lang="en-GB" sz="919" dirty="0">
              <a:latin typeface="Google Sans Flex"/>
            </a:endParaRPr>
          </a:p>
        </p:txBody>
      </p:sp>
      <p:sp>
        <p:nvSpPr>
          <p:cNvPr id="313" name="Text 313"/>
          <p:cNvSpPr txBox="1"/>
          <p:nvPr/>
        </p:nvSpPr>
        <p:spPr>
          <a:xfrm>
            <a:off x="384048" y="317296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Release image built</a:t>
            </a:r>
            <a:endParaRPr lang="en-GB" sz="919" dirty="0">
              <a:latin typeface="Google Sans Flex"/>
            </a:endParaRPr>
          </a:p>
        </p:txBody>
      </p:sp>
      <p:sp>
        <p:nvSpPr>
          <p:cNvPr id="314" name="Text 314"/>
          <p:cNvSpPr txBox="1"/>
          <p:nvPr/>
        </p:nvSpPr>
        <p:spPr>
          <a:xfrm>
            <a:off x="2834640" y="317296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171 to 174 s</a:t>
            </a:r>
            <a:endParaRPr lang="en-GB" sz="919" dirty="0">
              <a:latin typeface="Google Sans Flex"/>
            </a:endParaRPr>
          </a:p>
        </p:txBody>
      </p:sp>
      <p:sp>
        <p:nvSpPr>
          <p:cNvPr id="315" name="Text 315"/>
          <p:cNvSpPr txBox="1"/>
          <p:nvPr/>
        </p:nvSpPr>
        <p:spPr>
          <a:xfrm>
            <a:off x="384048" y="349300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Vulnerability scan of the image</a:t>
            </a:r>
            <a:endParaRPr lang="en-GB" sz="919" dirty="0">
              <a:latin typeface="Google Sans Flex"/>
            </a:endParaRPr>
          </a:p>
        </p:txBody>
      </p:sp>
      <p:sp>
        <p:nvSpPr>
          <p:cNvPr id="316" name="Text 316"/>
          <p:cNvSpPr txBox="1"/>
          <p:nvPr/>
        </p:nvSpPr>
        <p:spPr>
          <a:xfrm>
            <a:off x="2834640" y="349300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124 to 145 s</a:t>
            </a:r>
            <a:endParaRPr lang="en-GB" sz="919" dirty="0">
              <a:latin typeface="Google Sans Flex"/>
            </a:endParaRPr>
          </a:p>
        </p:txBody>
      </p:sp>
      <p:sp>
        <p:nvSpPr>
          <p:cNvPr id="317" name="Text 317"/>
          <p:cNvSpPr txBox="1"/>
          <p:nvPr/>
        </p:nvSpPr>
        <p:spPr>
          <a:xfrm>
            <a:off x="384048" y="381304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Release pack by the Release Agent</a:t>
            </a:r>
            <a:endParaRPr lang="en-GB" sz="919" dirty="0">
              <a:latin typeface="Google Sans Flex"/>
            </a:endParaRPr>
          </a:p>
        </p:txBody>
      </p:sp>
      <p:sp>
        <p:nvSpPr>
          <p:cNvPr id="318" name="Text 318"/>
          <p:cNvSpPr txBox="1"/>
          <p:nvPr/>
        </p:nvSpPr>
        <p:spPr>
          <a:xfrm>
            <a:off x="2834640" y="381304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15 to 21 s</a:t>
            </a:r>
            <a:endParaRPr lang="en-GB" sz="919" dirty="0">
              <a:latin typeface="Google Sans Flex"/>
            </a:endParaRPr>
          </a:p>
        </p:txBody>
      </p:sp>
      <p:sp>
        <p:nvSpPr>
          <p:cNvPr id="319" name="Text 319"/>
          <p:cNvSpPr txBox="1"/>
          <p:nvPr/>
        </p:nvSpPr>
        <p:spPr>
          <a:xfrm>
            <a:off x="384048" y="413308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Canary 10, 50, 100 percent, rollback</a:t>
            </a:r>
            <a:endParaRPr lang="en-GB" sz="919" dirty="0">
              <a:latin typeface="Google Sans Flex"/>
            </a:endParaRPr>
          </a:p>
        </p:txBody>
      </p:sp>
      <p:sp>
        <p:nvSpPr>
          <p:cNvPr id="320" name="Text 320"/>
          <p:cNvSpPr txBox="1"/>
          <p:nvPr/>
        </p:nvSpPr>
        <p:spPr>
          <a:xfrm>
            <a:off x="2834640" y="413308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verified live</a:t>
            </a:r>
            <a:endParaRPr lang="en-GB" sz="919" dirty="0">
              <a:latin typeface="Google Sans Flex"/>
            </a:endParaRPr>
          </a:p>
        </p:txBody>
      </p:sp>
      <p:sp>
        <p:nvSpPr>
          <p:cNvPr id="321" name="Text 321"/>
          <p:cNvSpPr txBox="1"/>
          <p:nvPr/>
        </p:nvSpPr>
        <p:spPr>
          <a:xfrm>
            <a:off x="384048" y="448056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Ranges over repeated runs of the same ticket flow on the deployed demo, 18 to 19 October 2026. Gemini drafts and Cloud Build times vary run to run.</a:t>
            </a:r>
            <a:endParaRPr lang="en-GB" sz="900" dirty="0">
              <a:latin typeface="Google Sans Flex"/>
            </a:endParaRPr>
          </a:p>
        </p:txBody>
      </p:sp>
      <p:sp>
        <p:nvSpPr>
          <p:cNvPr id="322" name="Card 322"/>
          <p:cNvSpPr/>
          <p:nvPr/>
        </p:nvSpPr>
        <p:spPr>
          <a:xfrm>
            <a:off x="4800600" y="1207008"/>
            <a:ext cx="406908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 wrap="square" lIns="109728" tIns="82296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Knowledge agents: 38-case evaluation</a:t>
            </a:r>
            <a:endParaRPr lang="en-GB" sz="1050" dirty="0">
              <a:latin typeface="Google Sans Flex"/>
            </a:endParaRPr>
          </a:p>
        </p:txBody>
      </p:sp>
      <p:sp>
        <p:nvSpPr>
          <p:cNvPr id="323" name="Text 323"/>
          <p:cNvSpPr txBox="1"/>
          <p:nvPr/>
        </p:nvSpPr>
        <p:spPr>
          <a:xfrm>
            <a:off x="4910328" y="157276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Golden cases (knowledge agents)</a:t>
            </a:r>
            <a:endParaRPr lang="en-GB" sz="919" dirty="0">
              <a:latin typeface="Google Sans Flex"/>
            </a:endParaRPr>
          </a:p>
        </p:txBody>
      </p:sp>
      <p:sp>
        <p:nvSpPr>
          <p:cNvPr id="324" name="Text 324"/>
          <p:cNvSpPr txBox="1"/>
          <p:nvPr/>
        </p:nvSpPr>
        <p:spPr>
          <a:xfrm>
            <a:off x="7406640" y="157276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38</a:t>
            </a:r>
            <a:endParaRPr lang="en-GB" sz="919" dirty="0">
              <a:latin typeface="Google Sans Flex"/>
            </a:endParaRPr>
          </a:p>
        </p:txBody>
      </p:sp>
      <p:sp>
        <p:nvSpPr>
          <p:cNvPr id="325" name="Text 325"/>
          <p:cNvSpPr txBox="1"/>
          <p:nvPr/>
        </p:nvSpPr>
        <p:spPr>
          <a:xfrm>
            <a:off x="4910328" y="1911096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Passing every check</a:t>
            </a:r>
            <a:endParaRPr lang="en-GB" sz="919" dirty="0">
              <a:latin typeface="Google Sans Flex"/>
            </a:endParaRPr>
          </a:p>
        </p:txBody>
      </p:sp>
      <p:sp>
        <p:nvSpPr>
          <p:cNvPr id="326" name="Text 326"/>
          <p:cNvSpPr txBox="1"/>
          <p:nvPr/>
        </p:nvSpPr>
        <p:spPr>
          <a:xfrm>
            <a:off x="7406640" y="1911096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37 of 38</a:t>
            </a:r>
            <a:endParaRPr lang="en-GB" sz="919" dirty="0">
              <a:latin typeface="Google Sans Flex"/>
            </a:endParaRPr>
          </a:p>
        </p:txBody>
      </p:sp>
      <p:sp>
        <p:nvSpPr>
          <p:cNvPr id="327" name="Text 327"/>
          <p:cNvSpPr txBox="1"/>
          <p:nvPr/>
        </p:nvSpPr>
        <p:spPr>
          <a:xfrm>
            <a:off x="4910328" y="2249424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Citation recall / precision</a:t>
            </a:r>
            <a:endParaRPr lang="en-GB" sz="919" dirty="0">
              <a:latin typeface="Google Sans Flex"/>
            </a:endParaRPr>
          </a:p>
        </p:txBody>
      </p:sp>
      <p:sp>
        <p:nvSpPr>
          <p:cNvPr id="328" name="Text 328"/>
          <p:cNvSpPr txBox="1"/>
          <p:nvPr/>
        </p:nvSpPr>
        <p:spPr>
          <a:xfrm>
            <a:off x="7406640" y="2249424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1.000 / 1.000</a:t>
            </a:r>
            <a:endParaRPr lang="en-GB" sz="919" dirty="0">
              <a:latin typeface="Google Sans Flex"/>
            </a:endParaRPr>
          </a:p>
        </p:txBody>
      </p:sp>
      <p:sp>
        <p:nvSpPr>
          <p:cNvPr id="329" name="Text 329"/>
          <p:cNvSpPr txBox="1"/>
          <p:nvPr/>
        </p:nvSpPr>
        <p:spPr>
          <a:xfrm>
            <a:off x="4910328" y="258775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Groundedness (1 to 5)</a:t>
            </a:r>
            <a:endParaRPr lang="en-GB" sz="919" dirty="0">
              <a:latin typeface="Google Sans Flex"/>
            </a:endParaRPr>
          </a:p>
        </p:txBody>
      </p:sp>
      <p:sp>
        <p:nvSpPr>
          <p:cNvPr id="330" name="Text 330"/>
          <p:cNvSpPr txBox="1"/>
          <p:nvPr/>
        </p:nvSpPr>
        <p:spPr>
          <a:xfrm>
            <a:off x="7406640" y="258775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4.97</a:t>
            </a:r>
            <a:endParaRPr lang="en-GB" sz="919" dirty="0">
              <a:latin typeface="Google Sans Flex"/>
            </a:endParaRPr>
          </a:p>
        </p:txBody>
      </p:sp>
      <p:sp>
        <p:nvSpPr>
          <p:cNvPr id="331" name="Text 331"/>
          <p:cNvSpPr txBox="1"/>
          <p:nvPr/>
        </p:nvSpPr>
        <p:spPr>
          <a:xfrm>
            <a:off x="4910328" y="2926080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Correct refusals</a:t>
            </a:r>
            <a:endParaRPr lang="en-GB" sz="919" dirty="0">
              <a:latin typeface="Google Sans Flex"/>
            </a:endParaRPr>
          </a:p>
        </p:txBody>
      </p:sp>
      <p:sp>
        <p:nvSpPr>
          <p:cNvPr id="332" name="Text 332"/>
          <p:cNvSpPr txBox="1"/>
          <p:nvPr/>
        </p:nvSpPr>
        <p:spPr>
          <a:xfrm>
            <a:off x="7406640" y="292608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100%</a:t>
            </a:r>
            <a:endParaRPr lang="en-GB" sz="919" dirty="0">
              <a:latin typeface="Google Sans Flex"/>
            </a:endParaRPr>
          </a:p>
        </p:txBody>
      </p:sp>
      <p:sp>
        <p:nvSpPr>
          <p:cNvPr id="333" name="Text 333"/>
          <p:cNvSpPr txBox="1"/>
          <p:nvPr/>
        </p:nvSpPr>
        <p:spPr>
          <a:xfrm>
            <a:off x="4910328" y="32644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Planted instructions ignored</a:t>
            </a:r>
            <a:endParaRPr lang="en-GB" sz="919" dirty="0">
              <a:latin typeface="Google Sans Flex"/>
            </a:endParaRPr>
          </a:p>
        </p:txBody>
      </p:sp>
      <p:sp>
        <p:nvSpPr>
          <p:cNvPr id="334" name="Text 334"/>
          <p:cNvSpPr txBox="1"/>
          <p:nvPr/>
        </p:nvSpPr>
        <p:spPr>
          <a:xfrm>
            <a:off x="7406640" y="326440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100%</a:t>
            </a:r>
            <a:endParaRPr lang="en-GB" sz="919" dirty="0">
              <a:latin typeface="Google Sans Flex"/>
            </a:endParaRPr>
          </a:p>
        </p:txBody>
      </p:sp>
      <p:sp>
        <p:nvSpPr>
          <p:cNvPr id="335" name="Text 335"/>
          <p:cNvSpPr txBox="1"/>
          <p:nvPr/>
        </p:nvSpPr>
        <p:spPr>
          <a:xfrm>
            <a:off x="4910328" y="3602736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Latency, median / p95</a:t>
            </a:r>
            <a:endParaRPr lang="en-GB" sz="919" dirty="0">
              <a:latin typeface="Google Sans Flex"/>
            </a:endParaRPr>
          </a:p>
        </p:txBody>
      </p:sp>
      <p:sp>
        <p:nvSpPr>
          <p:cNvPr id="336" name="Text 336"/>
          <p:cNvSpPr txBox="1"/>
          <p:nvPr/>
        </p:nvSpPr>
        <p:spPr>
          <a:xfrm>
            <a:off x="7406640" y="3602736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0" bIns="0" anchor="ctr" anchorCtr="0" spcFirstLastPara="1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 b="1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38 s / 81 s</a:t>
            </a:r>
            <a:endParaRPr lang="en-GB" sz="919" dirty="0">
              <a:latin typeface="Google Sans Flex"/>
            </a:endParaRPr>
          </a:p>
        </p:txBody>
      </p:sp>
      <p:sp>
        <p:nvSpPr>
          <p:cNvPr id="337" name="Text 337"/>
          <p:cNvSpPr txBox="1"/>
          <p:nvPr/>
        </p:nvSpPr>
        <p:spPr>
          <a:xfrm>
            <a:off x="4910328" y="402336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Run on gemini-3.8-flash on 2026-10-17; one miss (next-release). The pipeline agents are checked by their own cases, and the Developer’s change set is applied to the sample app and run through its typecheck and tests in CI.</a:t>
            </a:r>
            <a:endParaRPr lang="en-GB" sz="900" dirty="0">
              <a:latin typeface="Google Sans Flex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lang="en-GB" sz="1600" dirty="0">
              <a:latin typeface="Google Sans Flex Medium"/>
            </a:endParaRPr>
          </a:p>
        </p:txBody>
      </p:sp>
      <p:sp>
        <p:nvSpPr>
          <p:cNvPr id="302" name="Card 302"/>
          <p:cNvSpPr/>
          <p:nvPr/>
        </p:nvSpPr>
        <p:spPr>
          <a:xfrm>
            <a:off x="274320" y="1207008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E6F4EA"/>
          </a:solidFill>
          <a:ln>
            <a:noFill/>
          </a:ln>
        </p:spPr>
        <p:txBody>
          <a:bodyPr wrap="square" lIns="128016" tIns="109728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 today</a:t>
            </a:r>
            <a:endParaRPr lang="en-GB" sz="12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demo is live: no sign-in, a shared synthetic workspace that resets at 03:00 Singapore time, Google’s side included.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Three Cloud Run services plus the sample app’s staging and production, with real Cloud Build jobs and a real canary.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Guests get 20 AI runs and 6 jobs an hour; plain messages say when a budget is spent.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Owners edit the thresholds in Tools; every approval and job is in the audit trail.</a:t>
            </a:r>
            <a:endParaRPr lang="en-GB" sz="1000" dirty="0">
              <a:latin typeface="Google Sans Flex"/>
            </a:endParaRPr>
          </a:p>
        </p:txBody>
      </p:sp>
      <p:sp>
        <p:nvSpPr>
          <p:cNvPr id="303" name="Card 303"/>
          <p:cNvSpPr/>
          <p:nvPr/>
        </p:nvSpPr>
        <p:spPr>
          <a:xfrm>
            <a:off x="3200400" y="1207008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FEF7E0"/>
          </a:solidFill>
          <a:ln>
            <a:noFill/>
          </a:ln>
        </p:spPr>
        <p:txBody>
          <a:bodyPr wrap="square" lIns="128016" tIns="109728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Honest limits</a:t>
            </a:r>
            <a:endParaRPr lang="en-GB" sz="12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shared workspace: guests are its owner and see each other’s work; one live rollout at a time.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seeded company in the workspace is still the earlier field-service one; the pipeline works on the Customer Portal sample app.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Developer Agent’s first change often breaks an existing end-to-end test. The pipeline catches it; fixing it can take a person’s note.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Monitoring and signed attestations are not built yet; the canary judges from its own measurements.</a:t>
            </a:r>
            <a:endParaRPr lang="en-GB" sz="1000" dirty="0">
              <a:latin typeface="Google Sans Flex"/>
            </a:endParaRPr>
          </a:p>
        </p:txBody>
      </p:sp>
      <p:sp>
        <p:nvSpPr>
          <p:cNvPr id="304" name="Card 304"/>
          <p:cNvSpPr/>
          <p:nvPr/>
        </p:nvSpPr>
        <p:spPr>
          <a:xfrm>
            <a:off x="6126480" y="1207008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E8F0FE"/>
          </a:solidFill>
          <a:ln>
            <a:noFill/>
          </a:ln>
        </p:spPr>
        <p:txBody>
          <a:bodyPr wrap="square" lIns="128016" tIns="109728" rIns="109728" bIns="73152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</a:t>
            </a:r>
            <a:endParaRPr lang="en-GB" sz="12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Monitoring and Error Reporting next to the canary’s numbers.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Binary Authorization: sign an image only after a person approves.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Exploratory QA: a Gemini computer-use agent driving a browser.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Durable workspaces on Cloud SQL, one per team.</a:t>
            </a:r>
            <a:endParaRPr lang="en-GB" sz="1000" dirty="0">
              <a:latin typeface="Google Sans Flex"/>
            </a:endParaRPr>
          </a:p>
          <a:p>
            <a:pPr marL="155448" lvl="0" indent="-155448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000"/>
              <a:buFont typeface="Arial"/>
              <a:buChar char="•"/>
            </a:pPr>
            <a:r>
              <a:rPr lang="en-GB" sz="1000" b="0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Deploy as another rollout driver; Jules, Stitch and Code Assist where a team connects them.</a:t>
            </a:r>
            <a:endParaRPr lang="en-GB" sz="1000" dirty="0">
              <a:latin typeface="Google Sans Flex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lang="en-GB" sz="1600" dirty="0">
              <a:latin typeface="Google Sans Flex Medium"/>
            </a:endParaRPr>
          </a:p>
        </p:txBody>
      </p:sp>
      <p:sp>
        <p:nvSpPr>
          <p:cNvPr id="302" name="Card 302"/>
          <p:cNvSpPr/>
          <p:nvPr/>
        </p:nvSpPr>
        <p:spPr>
          <a:xfrm>
            <a:off x="274320" y="1417320"/>
            <a:ext cx="8595360" cy="804672"/>
          </a:xfrm>
          <a:prstGeom prst="roundRect">
            <a:avLst>
              <a:gd name="adj" fmla="val 11363"/>
            </a:avLst>
          </a:prstGeom>
          <a:solidFill>
            <a:srgbClr val="F1F3F4"/>
          </a:solidFill>
          <a:ln>
            <a:noFill/>
          </a:ln>
        </p:spPr>
        <p:txBody>
          <a:bodyPr wrap="square" lIns="182880" tIns="54864" rIns="182880" bIns="54864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GitHub Public Repository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101"/>
              </a:rPr>
              <a:t>https://github.com/nuckydotid/ai-native-office</a:t>
            </a:r>
            <a:endParaRPr lang="en-GB" sz="1200" dirty="0">
              <a:latin typeface="Google Sans Flex"/>
            </a:endParaRPr>
          </a:p>
        </p:txBody>
      </p:sp>
      <p:sp>
        <p:nvSpPr>
          <p:cNvPr id="303" name="Card 303"/>
          <p:cNvSpPr/>
          <p:nvPr/>
        </p:nvSpPr>
        <p:spPr>
          <a:xfrm>
            <a:off x="274320" y="2377440"/>
            <a:ext cx="8595360" cy="804672"/>
          </a:xfrm>
          <a:prstGeom prst="roundRect">
            <a:avLst>
              <a:gd name="adj" fmla="val 11363"/>
            </a:avLst>
          </a:prstGeom>
          <a:solidFill>
            <a:srgbClr val="F1F3F4"/>
          </a:solidFill>
          <a:ln>
            <a:noFill/>
          </a:ln>
        </p:spPr>
        <p:txBody>
          <a:bodyPr wrap="square" lIns="182880" tIns="54864" rIns="182880" bIns="54864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Video Link (3 Minutes)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102"/>
              </a:rPr>
              <a:t>https://drive.google.com/file/d/1aegkuWEeJbPpCgbToksb0DkwxneWELrU/view?usp=sharing</a:t>
            </a:r>
            <a:endParaRPr lang="en-GB" sz="1200" dirty="0">
              <a:latin typeface="Google Sans Flex"/>
            </a:endParaRPr>
          </a:p>
        </p:txBody>
      </p:sp>
      <p:sp>
        <p:nvSpPr>
          <p:cNvPr id="304" name="Card 304"/>
          <p:cNvSpPr/>
          <p:nvPr/>
        </p:nvSpPr>
        <p:spPr>
          <a:xfrm>
            <a:off x="274320" y="3337560"/>
            <a:ext cx="8595360" cy="804672"/>
          </a:xfrm>
          <a:prstGeom prst="roundRect">
            <a:avLst>
              <a:gd name="adj" fmla="val 11363"/>
            </a:avLst>
          </a:prstGeom>
          <a:solidFill>
            <a:srgbClr val="F1F3F4"/>
          </a:solidFill>
          <a:ln>
            <a:noFill/>
          </a:ln>
        </p:spPr>
        <p:txBody>
          <a:bodyPr wrap="square" lIns="182880" tIns="54864" rIns="182880" bIns="54864" anchor="ctr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b="1" i="0" dirty="0">
                <a:solidFill>
                  <a:srgbClr val="1F1F1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Final Product Link</a:t>
            </a:r>
            <a:endParaRPr lang="en-GB" sz="1200" dirty="0">
              <a:latin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103"/>
              </a:rPr>
              <a:t>https://studio-web-x6ud7nrylq-as.a.run.app</a:t>
            </a:r>
            <a:endParaRPr lang="en-GB" sz="1200" dirty="0">
              <a:latin typeface="Google Sans Flex"/>
            </a:endParaRPr>
          </a:p>
        </p:txBody>
      </p:sp>
      <p:sp>
        <p:nvSpPr>
          <p:cNvPr id="305" name="Text 305"/>
          <p:cNvSpPr txBox="1"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product link opens a shared synthetic workspace as a guest, with no sign-in. It resets every night at 03:00 Singapore time.</a:t>
            </a:r>
            <a:endParaRPr lang="en-GB" sz="1000" dirty="0">
              <a:latin typeface="Google Sans Flex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Title 301"/>
          <p:cNvSpPr txBox="1"/>
          <p:nvPr/>
        </p:nvSpPr>
        <p:spPr>
          <a:xfrm>
            <a:off x="265176" y="662940"/>
            <a:ext cx="8942832" cy="557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dirty="0">
                <a:solidFill>
                  <a:srgbClr val="1F1F1F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lang="en-GB" sz="1600" dirty="0">
              <a:latin typeface="Google Sans Flex Medium"/>
            </a:endParaRPr>
          </a:p>
        </p:txBody>
      </p:sp>
      <p:pic>
        <p:nvPicPr>
          <p:cNvPr id="302" name="Picture 302" descr="The Test stage after a real run: unit tests passed with 100 percent coverage, the end-to-end test failed, and the gate stays red with Approve and advance disabled.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74320" y="1280160"/>
            <a:ext cx="5074920" cy="3172054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303" name="Text 303"/>
          <p:cNvSpPr txBox="1"/>
          <p:nvPr/>
        </p:nvSpPr>
        <p:spPr>
          <a:xfrm>
            <a:off x="274320" y="4480560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0" anchor="t" anchorCtr="0" spcFirstLastPara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Test.</a:t>
            </a: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A real run of the Developer Agent’s change: the end-to-end test failed, so the ticket cannot move on until it is fixed.</a:t>
            </a:r>
            <a:endParaRPr lang="en-GB" sz="900" dirty="0">
              <a:latin typeface="Google Sans Flex"/>
            </a:endParaRPr>
          </a:p>
        </p:txBody>
      </p:sp>
      <p:pic>
        <p:nvPicPr>
          <p:cNvPr id="304" name="Picture 304" descr="The Release gate: the scan found critical issues, so Approve &amp; advance stays disabled.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532120" y="1280160"/>
            <a:ext cx="1536192" cy="344728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pic>
        <p:nvPicPr>
          <p:cNvPr id="305" name="Picture 305" descr="The Test stage: unit tests passed with coverage and end-to-end tests passed.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7287768" y="1280160"/>
            <a:ext cx="1536192" cy="344728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306" name="Text 306"/>
          <p:cNvSpPr txBox="1"/>
          <p:nvPr/>
        </p:nvSpPr>
        <p:spPr>
          <a:xfrm>
            <a:off x="5532120" y="4709160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release the gate refused</a:t>
            </a:r>
            <a:endParaRPr lang="en-GB" sz="900" dirty="0">
              <a:latin typeface="Google Sans Flex"/>
            </a:endParaRPr>
          </a:p>
        </p:txBody>
      </p:sp>
      <p:sp>
        <p:nvSpPr>
          <p:cNvPr id="307" name="Text 307"/>
          <p:cNvSpPr txBox="1"/>
          <p:nvPr/>
        </p:nvSpPr>
        <p:spPr>
          <a:xfrm>
            <a:off x="7287768" y="4709160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0" anchor="t" anchorCtr="0" spcFirstLastPara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Tests passing, with coverage</a:t>
            </a:r>
            <a:endParaRPr lang="en-GB" sz="900" dirty="0">
              <a:latin typeface="Google Sans Flex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